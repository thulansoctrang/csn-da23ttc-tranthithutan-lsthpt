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72" r:id="rId12"/>
    <p:sldId id="265" r:id="rId13"/>
    <p:sldId id="266" r:id="rId14"/>
    <p:sldId id="267" r:id="rId15"/>
    <p:sldId id="268" r:id="rId16"/>
  </p:sldIdLst>
  <p:sldSz cx="18288000" cy="10287000"/>
  <p:notesSz cx="6858000" cy="9144000"/>
  <p:embeddedFontLst>
    <p:embeddedFont>
      <p:font typeface="Arial Bold" panose="020B0704020202020204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3A404-3926-4ECC-9C21-AB0B84FFD0F0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A3C85-E77A-41AA-AE08-5CF20159A61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40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29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3096" y="801312"/>
            <a:ext cx="16968570" cy="8638898"/>
            <a:chOff x="0" y="0"/>
            <a:chExt cx="4469088" cy="2275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9088" cy="2275265"/>
            </a:xfrm>
            <a:custGeom>
              <a:avLst/>
              <a:gdLst/>
              <a:ahLst/>
              <a:cxnLst/>
              <a:rect l="l" t="t" r="r" b="b"/>
              <a:pathLst>
                <a:path w="4469088" h="2275265">
                  <a:moveTo>
                    <a:pt x="0" y="0"/>
                  </a:moveTo>
                  <a:lnTo>
                    <a:pt x="4469088" y="0"/>
                  </a:lnTo>
                  <a:lnTo>
                    <a:pt x="4469088" y="2275265"/>
                  </a:lnTo>
                  <a:lnTo>
                    <a:pt x="0" y="22752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9088" cy="232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kern="0">
                <a:latin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815587" y="1574404"/>
            <a:ext cx="15268691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600" b="1" kern="0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 Bold"/>
                <a:sym typeface="Arial Bold"/>
              </a:rPr>
              <a:t>PHÁT TRIỂN HỆ THỐNG</a:t>
            </a:r>
          </a:p>
          <a:p>
            <a:pPr algn="ctr"/>
            <a:r>
              <a:rPr lang="en-US" sz="5600" b="1" kern="0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 Bold"/>
                <a:sym typeface="Arial Bold"/>
              </a:rPr>
              <a:t>HỌC &amp; ÔN LUYỆN KIẾN THỨC</a:t>
            </a:r>
          </a:p>
          <a:p>
            <a:pPr algn="ctr"/>
            <a:r>
              <a:rPr lang="en-US" sz="5600" b="1" kern="0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 Bold"/>
                <a:sym typeface="Arial Bold"/>
              </a:rPr>
              <a:t>LỊCH SỬ THPT</a:t>
            </a:r>
          </a:p>
          <a:p>
            <a:pPr algn="ctr"/>
            <a:endParaRPr lang="en-US" sz="5600" b="1" kern="0" dirty="0">
              <a:solidFill>
                <a:srgbClr val="000000"/>
              </a:solidFill>
              <a:latin typeface="Arial" panose="020B0604020202020204" pitchFamily="34" charset="0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461065" y="4746864"/>
            <a:ext cx="9977737" cy="47625"/>
            <a:chOff x="0" y="0"/>
            <a:chExt cx="2627881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27881" cy="12543"/>
            </a:xfrm>
            <a:custGeom>
              <a:avLst/>
              <a:gdLst/>
              <a:ahLst/>
              <a:cxnLst/>
              <a:rect l="l" t="t" r="r" b="b"/>
              <a:pathLst>
                <a:path w="2627881" h="12543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627881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kern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49933" y="7508065"/>
            <a:ext cx="7959400" cy="1210728"/>
            <a:chOff x="0" y="-95249"/>
            <a:chExt cx="10612533" cy="161430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49"/>
              <a:ext cx="1061253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3500" kern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Sinh viên thực hiện: Trần Thị Thu Lan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00910"/>
              <a:ext cx="1003613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3500" kern="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MSSV:110123121 - </a:t>
              </a:r>
              <a:r>
                <a:rPr lang="en-US" sz="3500" kern="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Lớp</a:t>
              </a:r>
              <a:r>
                <a:rPr lang="en-US" sz="3500" kern="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: DA23TTC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11371" y="5466002"/>
            <a:ext cx="10721434" cy="1077218"/>
            <a:chOff x="0" y="-95249"/>
            <a:chExt cx="14295245" cy="143629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49"/>
              <a:ext cx="10079246" cy="1436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3500" kern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GVHD: THS Nguyễn Ngọc Đan Thanh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11715"/>
              <a:ext cx="14295245" cy="718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3500" kern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/>
                  <a:sym typeface="Arial"/>
                </a:rPr>
                <a:t>Đơn vị: Khoa CNTT - Trường Kỹ Thuật và Công Nghệ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87838" y="2688217"/>
            <a:ext cx="6257684" cy="643022"/>
            <a:chOff x="0" y="0"/>
            <a:chExt cx="8343579" cy="85736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857363" cy="857363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168388" y="148144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041163" y="-85725"/>
              <a:ext cx="7302416" cy="890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LÝ DO CHỌN ĐỀ TÀI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0072" y="921544"/>
            <a:ext cx="4648252" cy="1041515"/>
            <a:chOff x="0" y="-142875"/>
            <a:chExt cx="6197670" cy="13886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1131147"/>
              <a:ext cx="4114800" cy="114664"/>
              <a:chOff x="0" y="0"/>
              <a:chExt cx="812800" cy="226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265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12800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-142875"/>
              <a:ext cx="6197670" cy="121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MỤC LỤC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7838" y="3754663"/>
            <a:ext cx="6685751" cy="646492"/>
            <a:chOff x="0" y="0"/>
            <a:chExt cx="8914334" cy="861989"/>
          </a:xfrm>
        </p:grpSpPr>
        <p:sp>
          <p:nvSpPr>
            <p:cNvPr id="15" name="TextBox 15"/>
            <p:cNvSpPr txBox="1"/>
            <p:nvPr/>
          </p:nvSpPr>
          <p:spPr>
            <a:xfrm>
              <a:off x="1054574" y="-85725"/>
              <a:ext cx="7859760" cy="890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MỤC TIÊU NGHIÊN CỨU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4626"/>
              <a:ext cx="857363" cy="857363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65402" tIns="65402" rIns="65402" bIns="65402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68388" y="152770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587838" y="4820254"/>
            <a:ext cx="6814081" cy="646492"/>
            <a:chOff x="0" y="0"/>
            <a:chExt cx="9085442" cy="861989"/>
          </a:xfrm>
        </p:grpSpPr>
        <p:sp>
          <p:nvSpPr>
            <p:cNvPr id="21" name="TextBox 21"/>
            <p:cNvSpPr txBox="1"/>
            <p:nvPr/>
          </p:nvSpPr>
          <p:spPr>
            <a:xfrm>
              <a:off x="1067831" y="-85725"/>
              <a:ext cx="8017611" cy="890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PHẠM VI &amp; ĐỐI TƯỢNG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4626"/>
              <a:ext cx="857363" cy="85736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68388" y="152770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587838" y="5885846"/>
            <a:ext cx="8587341" cy="643022"/>
            <a:chOff x="0" y="0"/>
            <a:chExt cx="11449788" cy="857363"/>
          </a:xfrm>
        </p:grpSpPr>
        <p:sp>
          <p:nvSpPr>
            <p:cNvPr id="27" name="TextBox 27"/>
            <p:cNvSpPr txBox="1"/>
            <p:nvPr/>
          </p:nvSpPr>
          <p:spPr>
            <a:xfrm>
              <a:off x="1029138" y="-85725"/>
              <a:ext cx="10420650" cy="890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PHƯƠNG PHÁP NGHIÊN CỨU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0" y="0"/>
              <a:ext cx="857363" cy="857363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68388" y="148144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190462" y="6884215"/>
            <a:ext cx="9038901" cy="646492"/>
            <a:chOff x="0" y="0"/>
            <a:chExt cx="12051867" cy="861989"/>
          </a:xfrm>
        </p:grpSpPr>
        <p:sp>
          <p:nvSpPr>
            <p:cNvPr id="33" name="TextBox 33"/>
            <p:cNvSpPr txBox="1"/>
            <p:nvPr/>
          </p:nvSpPr>
          <p:spPr>
            <a:xfrm>
              <a:off x="1061518" y="-85725"/>
              <a:ext cx="10990349" cy="890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CÔNG NGHỆ VÀ MÔI TRƯỜNG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4626"/>
              <a:ext cx="857363" cy="857363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65402" tIns="65402" rIns="65402" bIns="65402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168388" y="152770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9204974" y="7954606"/>
            <a:ext cx="9172977" cy="643022"/>
            <a:chOff x="0" y="0"/>
            <a:chExt cx="12230636" cy="857363"/>
          </a:xfrm>
        </p:grpSpPr>
        <p:sp>
          <p:nvSpPr>
            <p:cNvPr id="39" name="TextBox 39"/>
            <p:cNvSpPr txBox="1"/>
            <p:nvPr/>
          </p:nvSpPr>
          <p:spPr>
            <a:xfrm>
              <a:off x="1061518" y="-85725"/>
              <a:ext cx="11169118" cy="890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 LUẬN HƯỚNG PHÁT TRIỂN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0"/>
              <a:ext cx="857363" cy="857363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70090" tIns="70090" rIns="70090" bIns="7009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168388" y="148144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587838" y="6947968"/>
            <a:ext cx="8616360" cy="646492"/>
            <a:chOff x="0" y="0"/>
            <a:chExt cx="11488480" cy="861989"/>
          </a:xfrm>
        </p:grpSpPr>
        <p:sp>
          <p:nvSpPr>
            <p:cNvPr id="45" name="TextBox 45"/>
            <p:cNvSpPr txBox="1"/>
            <p:nvPr/>
          </p:nvSpPr>
          <p:spPr>
            <a:xfrm>
              <a:off x="1067831" y="-85725"/>
              <a:ext cx="10420650" cy="890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 QUẢ NGHIÊN CỨU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0" y="4626"/>
              <a:ext cx="857363" cy="857363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" name="Freeform 49"/>
            <p:cNvSpPr/>
            <p:nvPr/>
          </p:nvSpPr>
          <p:spPr>
            <a:xfrm>
              <a:off x="168388" y="152770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9204199" y="2688217"/>
            <a:ext cx="8026707" cy="643022"/>
            <a:chOff x="0" y="0"/>
            <a:chExt cx="10702276" cy="857363"/>
          </a:xfrm>
        </p:grpSpPr>
        <p:sp>
          <p:nvSpPr>
            <p:cNvPr id="51" name="TextBox 51"/>
            <p:cNvSpPr txBox="1"/>
            <p:nvPr/>
          </p:nvSpPr>
          <p:spPr>
            <a:xfrm>
              <a:off x="1061518" y="-85725"/>
              <a:ext cx="9640758" cy="890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CÁC CHỨC NĂNG CHÍNH 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0" y="0"/>
              <a:ext cx="857363" cy="857363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70090" tIns="70090" rIns="70090" bIns="7009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5" name="Freeform 55"/>
            <p:cNvSpPr/>
            <p:nvPr/>
          </p:nvSpPr>
          <p:spPr>
            <a:xfrm>
              <a:off x="168388" y="148144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10000338" y="3690369"/>
            <a:ext cx="7230569" cy="667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PHÂN QUYỀN CHỨC NĂNG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E7E695E-8B71-23D9-A75A-A67CEFBD0FDD}"/>
              </a:ext>
            </a:extLst>
          </p:cNvPr>
          <p:cNvGrpSpPr/>
          <p:nvPr/>
        </p:nvGrpSpPr>
        <p:grpSpPr>
          <a:xfrm>
            <a:off x="9204199" y="3712941"/>
            <a:ext cx="643022" cy="643022"/>
            <a:chOff x="9204199" y="3754663"/>
            <a:chExt cx="643022" cy="643022"/>
          </a:xfrm>
        </p:grpSpPr>
        <p:grpSp>
          <p:nvGrpSpPr>
            <p:cNvPr id="58" name="Group 58"/>
            <p:cNvGrpSpPr/>
            <p:nvPr/>
          </p:nvGrpSpPr>
          <p:grpSpPr>
            <a:xfrm>
              <a:off x="9204199" y="3754663"/>
              <a:ext cx="643022" cy="643022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70090" tIns="70090" rIns="70090" bIns="7009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1" name="Freeform 61"/>
            <p:cNvSpPr/>
            <p:nvPr/>
          </p:nvSpPr>
          <p:spPr>
            <a:xfrm>
              <a:off x="9330490" y="3865771"/>
              <a:ext cx="390441" cy="390441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9190462" y="5822093"/>
            <a:ext cx="9038901" cy="646492"/>
            <a:chOff x="0" y="0"/>
            <a:chExt cx="12051867" cy="861989"/>
          </a:xfrm>
        </p:grpSpPr>
        <p:sp>
          <p:nvSpPr>
            <p:cNvPr id="63" name="TextBox 63"/>
            <p:cNvSpPr txBox="1"/>
            <p:nvPr/>
          </p:nvSpPr>
          <p:spPr>
            <a:xfrm>
              <a:off x="1061518" y="-85725"/>
              <a:ext cx="10990349" cy="890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KIẾN TRÚC 3 TẦNG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0" y="4626"/>
              <a:ext cx="857363" cy="857363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65402" tIns="65402" rIns="65402" bIns="65402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" name="Freeform 67"/>
            <p:cNvSpPr/>
            <p:nvPr/>
          </p:nvSpPr>
          <p:spPr>
            <a:xfrm>
              <a:off x="168388" y="152770"/>
              <a:ext cx="520588" cy="520588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9" name="Freeform 69"/>
          <p:cNvSpPr/>
          <p:nvPr/>
        </p:nvSpPr>
        <p:spPr>
          <a:xfrm rot="-727517" flipH="1">
            <a:off x="-1531327" y="-298108"/>
            <a:ext cx="4238330" cy="3228018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5040401" y="0"/>
                </a:moveTo>
                <a:lnTo>
                  <a:pt x="0" y="0"/>
                </a:lnTo>
                <a:lnTo>
                  <a:pt x="0" y="4114800"/>
                </a:lnTo>
                <a:lnTo>
                  <a:pt x="5040401" y="4114800"/>
                </a:lnTo>
                <a:lnTo>
                  <a:pt x="504040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8" name="TextBox 57">
            <a:extLst>
              <a:ext uri="{FF2B5EF4-FFF2-40B4-BE49-F238E27FC236}">
                <a16:creationId xmlns:a16="http://schemas.microsoft.com/office/drawing/2014/main" id="{977F1CBD-1BC6-67C2-F3A1-4B79615096AD}"/>
              </a:ext>
            </a:extLst>
          </p:cNvPr>
          <p:cNvSpPr txBox="1"/>
          <p:nvPr/>
        </p:nvSpPr>
        <p:spPr>
          <a:xfrm>
            <a:off x="9986601" y="4742930"/>
            <a:ext cx="7230569" cy="667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THIẾT</a:t>
            </a:r>
            <a:r>
              <a:rPr lang="vi-VN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KẾ</a:t>
            </a:r>
            <a:r>
              <a:rPr lang="vi-VN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CƠ</a:t>
            </a:r>
            <a:r>
              <a:rPr lang="vi-VN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SỞ</a:t>
            </a:r>
            <a:r>
              <a:rPr lang="vi-VN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DỮ</a:t>
            </a:r>
            <a:r>
              <a:rPr lang="vi-VN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LIỆU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27DD803-4844-51E1-7548-3764319B7323}"/>
              </a:ext>
            </a:extLst>
          </p:cNvPr>
          <p:cNvGrpSpPr/>
          <p:nvPr/>
        </p:nvGrpSpPr>
        <p:grpSpPr>
          <a:xfrm>
            <a:off x="9190462" y="4765502"/>
            <a:ext cx="643022" cy="643022"/>
            <a:chOff x="9204199" y="3754663"/>
            <a:chExt cx="643022" cy="643022"/>
          </a:xfrm>
        </p:grpSpPr>
        <p:grpSp>
          <p:nvGrpSpPr>
            <p:cNvPr id="80" name="Group 58">
              <a:extLst>
                <a:ext uri="{FF2B5EF4-FFF2-40B4-BE49-F238E27FC236}">
                  <a16:creationId xmlns:a16="http://schemas.microsoft.com/office/drawing/2014/main" id="{9F7D22B9-D74D-F85C-50CC-0BE6C1D46CFB}"/>
                </a:ext>
              </a:extLst>
            </p:cNvPr>
            <p:cNvGrpSpPr/>
            <p:nvPr/>
          </p:nvGrpSpPr>
          <p:grpSpPr>
            <a:xfrm>
              <a:off x="9204199" y="3754663"/>
              <a:ext cx="643022" cy="643022"/>
              <a:chOff x="0" y="0"/>
              <a:chExt cx="812800" cy="812800"/>
            </a:xfrm>
          </p:grpSpPr>
          <p:sp>
            <p:nvSpPr>
              <p:cNvPr id="82" name="Freeform 59">
                <a:extLst>
                  <a:ext uri="{FF2B5EF4-FFF2-40B4-BE49-F238E27FC236}">
                    <a16:creationId xmlns:a16="http://schemas.microsoft.com/office/drawing/2014/main" id="{54D2F40F-FF1C-E86D-F3F8-425D7272290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3" name="TextBox 60">
                <a:extLst>
                  <a:ext uri="{FF2B5EF4-FFF2-40B4-BE49-F238E27FC236}">
                    <a16:creationId xmlns:a16="http://schemas.microsoft.com/office/drawing/2014/main" id="{572C155A-6695-1ADB-1E0F-F467A0292388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70090" tIns="70090" rIns="70090" bIns="70090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1" name="Freeform 61">
              <a:extLst>
                <a:ext uri="{FF2B5EF4-FFF2-40B4-BE49-F238E27FC236}">
                  <a16:creationId xmlns:a16="http://schemas.microsoft.com/office/drawing/2014/main" id="{FD1DB33C-86D0-73D1-6AE9-9C424D478301}"/>
                </a:ext>
              </a:extLst>
            </p:cNvPr>
            <p:cNvSpPr/>
            <p:nvPr/>
          </p:nvSpPr>
          <p:spPr>
            <a:xfrm>
              <a:off x="9330490" y="3865771"/>
              <a:ext cx="390441" cy="390441"/>
            </a:xfrm>
            <a:custGeom>
              <a:avLst/>
              <a:gdLst/>
              <a:ahLst/>
              <a:cxnLst/>
              <a:rect l="l" t="t" r="r" b="b"/>
              <a:pathLst>
                <a:path w="520588" h="520588">
                  <a:moveTo>
                    <a:pt x="0" y="0"/>
                  </a:moveTo>
                  <a:lnTo>
                    <a:pt x="520587" y="0"/>
                  </a:lnTo>
                  <a:lnTo>
                    <a:pt x="520587" y="520587"/>
                  </a:lnTo>
                  <a:lnTo>
                    <a:pt x="0" y="52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04800" y="3300084"/>
            <a:ext cx="5779030" cy="5212060"/>
            <a:chOff x="0" y="0"/>
            <a:chExt cx="5161989" cy="46555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61989" cy="4655556"/>
            </a:xfrm>
            <a:custGeom>
              <a:avLst/>
              <a:gdLst/>
              <a:ahLst/>
              <a:cxnLst/>
              <a:rect l="l" t="t" r="r" b="b"/>
              <a:pathLst>
                <a:path w="5161989" h="4655556">
                  <a:moveTo>
                    <a:pt x="19997" y="0"/>
                  </a:moveTo>
                  <a:lnTo>
                    <a:pt x="5141992" y="0"/>
                  </a:lnTo>
                  <a:cubicBezTo>
                    <a:pt x="5147295" y="0"/>
                    <a:pt x="5152382" y="2107"/>
                    <a:pt x="5156132" y="5857"/>
                  </a:cubicBezTo>
                  <a:cubicBezTo>
                    <a:pt x="5159882" y="9607"/>
                    <a:pt x="5161989" y="14694"/>
                    <a:pt x="5161989" y="19997"/>
                  </a:cubicBezTo>
                  <a:lnTo>
                    <a:pt x="5161989" y="4635559"/>
                  </a:lnTo>
                  <a:cubicBezTo>
                    <a:pt x="5161989" y="4640862"/>
                    <a:pt x="5159882" y="4645949"/>
                    <a:pt x="5156132" y="4649699"/>
                  </a:cubicBezTo>
                  <a:cubicBezTo>
                    <a:pt x="5152382" y="4653449"/>
                    <a:pt x="5147295" y="4655556"/>
                    <a:pt x="5141992" y="4655556"/>
                  </a:cubicBezTo>
                  <a:lnTo>
                    <a:pt x="19997" y="4655556"/>
                  </a:lnTo>
                  <a:cubicBezTo>
                    <a:pt x="14694" y="4655556"/>
                    <a:pt x="9607" y="4653449"/>
                    <a:pt x="5857" y="4649699"/>
                  </a:cubicBezTo>
                  <a:cubicBezTo>
                    <a:pt x="2107" y="4645949"/>
                    <a:pt x="0" y="4640862"/>
                    <a:pt x="0" y="4635559"/>
                  </a:cubicBezTo>
                  <a:lnTo>
                    <a:pt x="0" y="19997"/>
                  </a:lnTo>
                  <a:cubicBezTo>
                    <a:pt x="0" y="14694"/>
                    <a:pt x="2107" y="9607"/>
                    <a:pt x="5857" y="5857"/>
                  </a:cubicBezTo>
                  <a:cubicBezTo>
                    <a:pt x="9607" y="2107"/>
                    <a:pt x="14694" y="0"/>
                    <a:pt x="1999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61989" cy="4712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3615" y="670950"/>
            <a:ext cx="7105830" cy="1041515"/>
            <a:chOff x="0" y="-142875"/>
            <a:chExt cx="9474440" cy="138868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1131147"/>
              <a:ext cx="8779822" cy="114664"/>
              <a:chOff x="0" y="0"/>
              <a:chExt cx="1734286" cy="226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734286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734286" h="22650">
                    <a:moveTo>
                      <a:pt x="0" y="0"/>
                    </a:moveTo>
                    <a:lnTo>
                      <a:pt x="1734286" y="0"/>
                    </a:lnTo>
                    <a:lnTo>
                      <a:pt x="1734286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734286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-142875"/>
              <a:ext cx="9474440" cy="121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LÝ DO CHỌN ĐỀ TÀI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9037" y="3300084"/>
            <a:ext cx="5974238" cy="5212060"/>
            <a:chOff x="0" y="0"/>
            <a:chExt cx="5161989" cy="46555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61989" cy="4655556"/>
            </a:xfrm>
            <a:custGeom>
              <a:avLst/>
              <a:gdLst/>
              <a:ahLst/>
              <a:cxnLst/>
              <a:rect l="l" t="t" r="r" b="b"/>
              <a:pathLst>
                <a:path w="5161989" h="4655556">
                  <a:moveTo>
                    <a:pt x="19997" y="0"/>
                  </a:moveTo>
                  <a:lnTo>
                    <a:pt x="5141992" y="0"/>
                  </a:lnTo>
                  <a:cubicBezTo>
                    <a:pt x="5147295" y="0"/>
                    <a:pt x="5152382" y="2107"/>
                    <a:pt x="5156132" y="5857"/>
                  </a:cubicBezTo>
                  <a:cubicBezTo>
                    <a:pt x="5159882" y="9607"/>
                    <a:pt x="5161989" y="14694"/>
                    <a:pt x="5161989" y="19997"/>
                  </a:cubicBezTo>
                  <a:lnTo>
                    <a:pt x="5161989" y="4635559"/>
                  </a:lnTo>
                  <a:cubicBezTo>
                    <a:pt x="5161989" y="4640862"/>
                    <a:pt x="5159882" y="4645949"/>
                    <a:pt x="5156132" y="4649699"/>
                  </a:cubicBezTo>
                  <a:cubicBezTo>
                    <a:pt x="5152382" y="4653449"/>
                    <a:pt x="5147295" y="4655556"/>
                    <a:pt x="5141992" y="4655556"/>
                  </a:cubicBezTo>
                  <a:lnTo>
                    <a:pt x="19997" y="4655556"/>
                  </a:lnTo>
                  <a:cubicBezTo>
                    <a:pt x="14694" y="4655556"/>
                    <a:pt x="9607" y="4653449"/>
                    <a:pt x="5857" y="4649699"/>
                  </a:cubicBezTo>
                  <a:cubicBezTo>
                    <a:pt x="2107" y="4645949"/>
                    <a:pt x="0" y="4640862"/>
                    <a:pt x="0" y="4635559"/>
                  </a:cubicBezTo>
                  <a:lnTo>
                    <a:pt x="0" y="19997"/>
                  </a:lnTo>
                  <a:cubicBezTo>
                    <a:pt x="0" y="14694"/>
                    <a:pt x="2107" y="9607"/>
                    <a:pt x="5857" y="5857"/>
                  </a:cubicBezTo>
                  <a:cubicBezTo>
                    <a:pt x="9607" y="2107"/>
                    <a:pt x="14694" y="0"/>
                    <a:pt x="1999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161989" cy="4712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25620" y="3300084"/>
            <a:ext cx="5606683" cy="5212060"/>
            <a:chOff x="0" y="0"/>
            <a:chExt cx="5161989" cy="46555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61989" cy="4655556"/>
            </a:xfrm>
            <a:custGeom>
              <a:avLst/>
              <a:gdLst/>
              <a:ahLst/>
              <a:cxnLst/>
              <a:rect l="l" t="t" r="r" b="b"/>
              <a:pathLst>
                <a:path w="5161989" h="4655556">
                  <a:moveTo>
                    <a:pt x="19997" y="0"/>
                  </a:moveTo>
                  <a:lnTo>
                    <a:pt x="5141992" y="0"/>
                  </a:lnTo>
                  <a:cubicBezTo>
                    <a:pt x="5147295" y="0"/>
                    <a:pt x="5152382" y="2107"/>
                    <a:pt x="5156132" y="5857"/>
                  </a:cubicBezTo>
                  <a:cubicBezTo>
                    <a:pt x="5159882" y="9607"/>
                    <a:pt x="5161989" y="14694"/>
                    <a:pt x="5161989" y="19997"/>
                  </a:cubicBezTo>
                  <a:lnTo>
                    <a:pt x="5161989" y="4635559"/>
                  </a:lnTo>
                  <a:cubicBezTo>
                    <a:pt x="5161989" y="4640862"/>
                    <a:pt x="5159882" y="4645949"/>
                    <a:pt x="5156132" y="4649699"/>
                  </a:cubicBezTo>
                  <a:cubicBezTo>
                    <a:pt x="5152382" y="4653449"/>
                    <a:pt x="5147295" y="4655556"/>
                    <a:pt x="5141992" y="4655556"/>
                  </a:cubicBezTo>
                  <a:lnTo>
                    <a:pt x="19997" y="4655556"/>
                  </a:lnTo>
                  <a:cubicBezTo>
                    <a:pt x="14694" y="4655556"/>
                    <a:pt x="9607" y="4653449"/>
                    <a:pt x="5857" y="4649699"/>
                  </a:cubicBezTo>
                  <a:cubicBezTo>
                    <a:pt x="2107" y="4645949"/>
                    <a:pt x="0" y="4640862"/>
                    <a:pt x="0" y="4635559"/>
                  </a:cubicBezTo>
                  <a:lnTo>
                    <a:pt x="0" y="19997"/>
                  </a:lnTo>
                  <a:cubicBezTo>
                    <a:pt x="0" y="14694"/>
                    <a:pt x="2107" y="9607"/>
                    <a:pt x="5857" y="5857"/>
                  </a:cubicBezTo>
                  <a:cubicBezTo>
                    <a:pt x="9607" y="2107"/>
                    <a:pt x="14694" y="0"/>
                    <a:pt x="19997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161989" cy="4712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8461523" y="3485590"/>
            <a:ext cx="1414059" cy="1431958"/>
          </a:xfrm>
          <a:custGeom>
            <a:avLst/>
            <a:gdLst/>
            <a:ahLst/>
            <a:cxnLst/>
            <a:rect l="l" t="t" r="r" b="b"/>
            <a:pathLst>
              <a:path w="1414059" h="1431958">
                <a:moveTo>
                  <a:pt x="0" y="0"/>
                </a:moveTo>
                <a:lnTo>
                  <a:pt x="1414058" y="0"/>
                </a:lnTo>
                <a:lnTo>
                  <a:pt x="1414058" y="1431958"/>
                </a:lnTo>
                <a:lnTo>
                  <a:pt x="0" y="1431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80304" y="3485590"/>
            <a:ext cx="1431958" cy="1431958"/>
          </a:xfrm>
          <a:custGeom>
            <a:avLst/>
            <a:gdLst/>
            <a:ahLst/>
            <a:cxnLst/>
            <a:rect l="l" t="t" r="r" b="b"/>
            <a:pathLst>
              <a:path w="1431958" h="1431958">
                <a:moveTo>
                  <a:pt x="0" y="0"/>
                </a:moveTo>
                <a:lnTo>
                  <a:pt x="1431958" y="0"/>
                </a:lnTo>
                <a:lnTo>
                  <a:pt x="1431958" y="1431958"/>
                </a:lnTo>
                <a:lnTo>
                  <a:pt x="0" y="1431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168573" y="3571486"/>
            <a:ext cx="1729214" cy="1260165"/>
          </a:xfrm>
          <a:custGeom>
            <a:avLst/>
            <a:gdLst/>
            <a:ahLst/>
            <a:cxnLst/>
            <a:rect l="l" t="t" r="r" b="b"/>
            <a:pathLst>
              <a:path w="1729214" h="1260165">
                <a:moveTo>
                  <a:pt x="0" y="0"/>
                </a:moveTo>
                <a:lnTo>
                  <a:pt x="1729214" y="0"/>
                </a:lnTo>
                <a:lnTo>
                  <a:pt x="1729214" y="1260165"/>
                </a:lnTo>
                <a:lnTo>
                  <a:pt x="0" y="1260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35783" y="5250148"/>
            <a:ext cx="5517064" cy="249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59"/>
              </a:lnSpc>
            </a:pPr>
            <a:r>
              <a:rPr lang="en-US" sz="30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sinh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gặp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khó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khăn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</a:p>
          <a:p>
            <a:pPr marL="0" lvl="0" indent="0" algn="ctr">
              <a:lnSpc>
                <a:spcPts val="4959"/>
              </a:lnSpc>
            </a:pP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vì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kiến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thức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ịch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sử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nhiều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</a:t>
            </a:r>
          </a:p>
          <a:p>
            <a:pPr marL="0" lvl="0" indent="0" algn="ctr">
              <a:lnSpc>
                <a:spcPts val="4959"/>
              </a:lnSpc>
            </a:pP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nhiều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mốc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thời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gian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–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sự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kiện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</a:t>
            </a:r>
          </a:p>
          <a:p>
            <a:pPr marL="0" lvl="0" indent="0" algn="ctr">
              <a:lnSpc>
                <a:spcPts val="4959"/>
              </a:lnSpc>
            </a:pP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khó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hệ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thống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và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ghi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0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nhớ</a:t>
            </a:r>
            <a:r>
              <a:rPr lang="en-US" sz="30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49972" y="5196808"/>
            <a:ext cx="5632368" cy="2395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Thiếu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nền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tảng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ôn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luyện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</a:p>
          <a:p>
            <a:pPr marL="0" lvl="0" indent="0" algn="ctr">
              <a:lnSpc>
                <a:spcPts val="4799"/>
              </a:lnSpc>
            </a:pP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trực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tuyến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tích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hợp</a:t>
            </a:r>
            <a:endParaRPr lang="en-US" sz="2999" u="none" strike="noStrik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0" lvl="0" indent="0" algn="ctr">
              <a:lnSpc>
                <a:spcPts val="4799"/>
              </a:lnSpc>
            </a:pP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bài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–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trắc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nghiệm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–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thống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kê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tiến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độ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trong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một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nơi</a:t>
            </a:r>
            <a:r>
              <a:rPr lang="en-US" sz="2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25621" y="5483283"/>
            <a:ext cx="5434337" cy="177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Nhu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cầu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ôn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tăng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cao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</a:p>
          <a:p>
            <a:pPr marL="0" lvl="0" indent="0" algn="ctr">
              <a:lnSpc>
                <a:spcPts val="4799"/>
              </a:lnSpc>
            </a:pP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cần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nền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tảng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ôn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luyện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mọi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lúc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mọi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nơi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để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hiệu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quả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hơn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028700" y="1751768"/>
            <a:ext cx="16230600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143104" y="2105861"/>
            <a:ext cx="5483698" cy="5470023"/>
          </a:xfrm>
          <a:custGeom>
            <a:avLst/>
            <a:gdLst/>
            <a:ahLst/>
            <a:cxnLst/>
            <a:rect l="l" t="t" r="r" b="b"/>
            <a:pathLst>
              <a:path w="5483698" h="5470023">
                <a:moveTo>
                  <a:pt x="0" y="0"/>
                </a:moveTo>
                <a:lnTo>
                  <a:pt x="5483697" y="0"/>
                </a:lnTo>
                <a:lnTo>
                  <a:pt x="5483697" y="5470023"/>
                </a:lnTo>
                <a:lnTo>
                  <a:pt x="0" y="5470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051" t="-24136" r="-32069" b="-3114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1244" y="357187"/>
            <a:ext cx="14965512" cy="122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sz="8499" spc="-416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MỤC TIÊU NGHIÊN CỨU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9250" y="5423234"/>
            <a:ext cx="230559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F5F5F4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6265" y="3972940"/>
            <a:ext cx="5617797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đánh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giá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tiến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độ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</a:p>
          <a:p>
            <a:pPr algn="ctr">
              <a:lnSpc>
                <a:spcPts val="3599"/>
              </a:lnSpc>
            </a:pP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tập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của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mình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để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xác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định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các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lĩnh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vực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cần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cải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thiện</a:t>
            </a:r>
            <a:endParaRPr lang="en-US" sz="2999" dirty="0">
              <a:solidFill>
                <a:srgbClr val="333333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34624" y="3972940"/>
            <a:ext cx="5615127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sinh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luyện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tập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trắc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nghiệm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để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củng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cố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kiến</a:t>
            </a:r>
            <a:r>
              <a:rPr lang="en-US" sz="29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thức</a:t>
            </a:r>
            <a:endParaRPr lang="en-US" sz="2999" dirty="0">
              <a:solidFill>
                <a:srgbClr val="333333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11863" y="8622425"/>
            <a:ext cx="654618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Giúp học sinh nắm bắt các khái niệm lịch sử một cách hiệu quả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1335" y="3082352"/>
            <a:ext cx="4041422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333333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Theo dõi tiến độ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42505" y="3082352"/>
            <a:ext cx="468425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333333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Luyện tập trắc nghiệm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8754" y="7831850"/>
            <a:ext cx="383239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333333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Xem lại bài học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AutoShape 4"/>
          <p:cNvSpPr/>
          <p:nvPr/>
        </p:nvSpPr>
        <p:spPr>
          <a:xfrm flipH="1" flipV="1">
            <a:off x="9687746" y="2100509"/>
            <a:ext cx="0" cy="71974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8F9ADC-49B9-ECDF-14D8-BA821C47DF24}"/>
              </a:ext>
            </a:extLst>
          </p:cNvPr>
          <p:cNvGrpSpPr/>
          <p:nvPr/>
        </p:nvGrpSpPr>
        <p:grpSpPr>
          <a:xfrm>
            <a:off x="515866" y="379285"/>
            <a:ext cx="8092568" cy="1077292"/>
            <a:chOff x="386761" y="117500"/>
            <a:chExt cx="8092568" cy="1077292"/>
          </a:xfrm>
        </p:grpSpPr>
        <p:grpSp>
          <p:nvGrpSpPr>
            <p:cNvPr id="5" name="Group 5"/>
            <p:cNvGrpSpPr/>
            <p:nvPr/>
          </p:nvGrpSpPr>
          <p:grpSpPr>
            <a:xfrm>
              <a:off x="386761" y="1108794"/>
              <a:ext cx="7800256" cy="85998"/>
              <a:chOff x="0" y="0"/>
              <a:chExt cx="2054388" cy="226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054389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2054389" h="22650">
                    <a:moveTo>
                      <a:pt x="0" y="0"/>
                    </a:moveTo>
                    <a:lnTo>
                      <a:pt x="2054389" y="0"/>
                    </a:lnTo>
                    <a:lnTo>
                      <a:pt x="2054389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054388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86761" y="117500"/>
              <a:ext cx="8092568" cy="913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PHẠM VI &amp; ĐỐI TƯỢNG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35571" y="1891233"/>
            <a:ext cx="13420346" cy="644579"/>
            <a:chOff x="1303687" y="-255964"/>
            <a:chExt cx="17893793" cy="859439"/>
          </a:xfrm>
        </p:grpSpPr>
        <p:sp>
          <p:nvSpPr>
            <p:cNvPr id="10" name="TextBox 10"/>
            <p:cNvSpPr txBox="1"/>
            <p:nvPr/>
          </p:nvSpPr>
          <p:spPr>
            <a:xfrm>
              <a:off x="1303687" y="-251659"/>
              <a:ext cx="5355473" cy="855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499" b="1" u="none" strike="noStrike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Phạm vi </a:t>
              </a:r>
              <a:r>
                <a:rPr lang="en-US" sz="3499" b="1" u="none" strike="noStrike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nội</a:t>
              </a:r>
              <a:r>
                <a:rPr lang="en-US" sz="3499" b="1" u="none" strike="noStrike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dung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51527" y="-255964"/>
              <a:ext cx="5645953" cy="855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499" b="1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Đố</a:t>
              </a:r>
              <a:r>
                <a:rPr lang="en-US" sz="3499" b="1" u="none" strike="noStrike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i</a:t>
              </a:r>
              <a:r>
                <a:rPr lang="en-US" sz="3499" b="1" u="none" strike="noStrike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3499" b="1" u="none" strike="noStrike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tượng</a:t>
              </a:r>
              <a:r>
                <a:rPr lang="en-US" sz="3499" b="1" u="none" strike="noStrike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3499" b="1" u="none" strike="noStrike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sử</a:t>
              </a:r>
              <a:r>
                <a:rPr lang="en-US" sz="3499" b="1" u="none" strike="noStrike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3499" b="1" u="none" strike="noStrike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dụng</a:t>
              </a:r>
              <a:endParaRPr lang="en-US" sz="34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942" y="3000196"/>
            <a:ext cx="9139225" cy="549189"/>
            <a:chOff x="0" y="-123825"/>
            <a:chExt cx="12185633" cy="732251"/>
          </a:xfrm>
        </p:grpSpPr>
        <p:sp>
          <p:nvSpPr>
            <p:cNvPr id="13" name="TextBox 13"/>
            <p:cNvSpPr txBox="1"/>
            <p:nvPr/>
          </p:nvSpPr>
          <p:spPr>
            <a:xfrm>
              <a:off x="781541" y="-123825"/>
              <a:ext cx="11404092" cy="732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Bám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sát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SGK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lịch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sử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THPT -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bộ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nối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tri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thức</a:t>
              </a:r>
              <a:endPara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29902"/>
              <a:ext cx="566999" cy="566999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11360" y="127874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80"/>
                  </a:lnTo>
                  <a:lnTo>
                    <a:pt x="0" y="344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28942" y="4067296"/>
            <a:ext cx="8884419" cy="1164742"/>
            <a:chOff x="0" y="-123825"/>
            <a:chExt cx="12185633" cy="1552989"/>
          </a:xfrm>
        </p:grpSpPr>
        <p:sp>
          <p:nvSpPr>
            <p:cNvPr id="19" name="TextBox 19"/>
            <p:cNvSpPr txBox="1"/>
            <p:nvPr/>
          </p:nvSpPr>
          <p:spPr>
            <a:xfrm>
              <a:off x="781540" y="-123825"/>
              <a:ext cx="11404093" cy="1552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Tổ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chức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nội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dung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theo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Chủ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đề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→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Bài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học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→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Mục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kiến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thức</a:t>
              </a:r>
              <a:endPara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1"/>
              <a:ext cx="566999" cy="56699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502082" y="4252010"/>
            <a:ext cx="258210" cy="258210"/>
          </a:xfrm>
          <a:custGeom>
            <a:avLst/>
            <a:gdLst/>
            <a:ahLst/>
            <a:cxnLst/>
            <a:rect l="l" t="t" r="r" b="b"/>
            <a:pathLst>
              <a:path w="258210" h="258210">
                <a:moveTo>
                  <a:pt x="0" y="0"/>
                </a:moveTo>
                <a:lnTo>
                  <a:pt x="258210" y="0"/>
                </a:lnTo>
                <a:lnTo>
                  <a:pt x="258210" y="258210"/>
                </a:lnTo>
                <a:lnTo>
                  <a:pt x="0" y="2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428943" y="5566647"/>
            <a:ext cx="8029258" cy="1164742"/>
            <a:chOff x="0" y="-123825"/>
            <a:chExt cx="12185633" cy="1552989"/>
          </a:xfrm>
        </p:grpSpPr>
        <p:sp>
          <p:nvSpPr>
            <p:cNvPr id="25" name="TextBox 25"/>
            <p:cNvSpPr txBox="1"/>
            <p:nvPr/>
          </p:nvSpPr>
          <p:spPr>
            <a:xfrm>
              <a:off x="781542" y="-123825"/>
              <a:ext cx="11404091" cy="1552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Mỗi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bài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gồm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: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tóm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tắt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kiến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thức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trọng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tâm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+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câu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hỏi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ôn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tập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/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trắc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nghiệm</a:t>
              </a:r>
              <a:endPara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566999" cy="566999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11360" y="97972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79"/>
                  </a:lnTo>
                  <a:lnTo>
                    <a:pt x="0" y="344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888321" y="3034104"/>
            <a:ext cx="7635503" cy="1164742"/>
            <a:chOff x="0" y="-123825"/>
            <a:chExt cx="10180672" cy="1552989"/>
          </a:xfrm>
        </p:grpSpPr>
        <p:sp>
          <p:nvSpPr>
            <p:cNvPr id="31" name="TextBox 31"/>
            <p:cNvSpPr txBox="1"/>
            <p:nvPr/>
          </p:nvSpPr>
          <p:spPr>
            <a:xfrm>
              <a:off x="809031" y="-123825"/>
              <a:ext cx="9371641" cy="1552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Học sinh: học theo SGK, ôn luyện và làm trắc nghiệm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0" y="0"/>
              <a:ext cx="566999" cy="566999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111360" y="97972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79"/>
                  </a:lnTo>
                  <a:lnTo>
                    <a:pt x="0" y="344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9888321" y="4306318"/>
            <a:ext cx="9155485" cy="549189"/>
            <a:chOff x="0" y="-123825"/>
            <a:chExt cx="12207314" cy="732252"/>
          </a:xfrm>
        </p:grpSpPr>
        <p:sp>
          <p:nvSpPr>
            <p:cNvPr id="37" name="TextBox 37"/>
            <p:cNvSpPr txBox="1"/>
            <p:nvPr/>
          </p:nvSpPr>
          <p:spPr>
            <a:xfrm>
              <a:off x="809031" y="-123825"/>
              <a:ext cx="11398283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Thí sinh tự do: ôn lại kiến thức theo bài học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0" y="0"/>
              <a:ext cx="566999" cy="566999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111360" y="97972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79"/>
                  </a:lnTo>
                  <a:lnTo>
                    <a:pt x="0" y="344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 rot="7928315">
            <a:off x="14876752" y="6908238"/>
            <a:ext cx="5740829" cy="4886881"/>
          </a:xfrm>
          <a:custGeom>
            <a:avLst/>
            <a:gdLst/>
            <a:ahLst/>
            <a:cxnLst/>
            <a:rect l="l" t="t" r="r" b="b"/>
            <a:pathLst>
              <a:path w="5740829" h="4886881">
                <a:moveTo>
                  <a:pt x="0" y="0"/>
                </a:moveTo>
                <a:lnTo>
                  <a:pt x="5740829" y="0"/>
                </a:lnTo>
                <a:lnTo>
                  <a:pt x="5740829" y="4886881"/>
                </a:lnTo>
                <a:lnTo>
                  <a:pt x="0" y="48868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rot="-1156350">
            <a:off x="16921865" y="8200349"/>
            <a:ext cx="1539438" cy="2195276"/>
          </a:xfrm>
          <a:custGeom>
            <a:avLst/>
            <a:gdLst/>
            <a:ahLst/>
            <a:cxnLst/>
            <a:rect l="l" t="t" r="r" b="b"/>
            <a:pathLst>
              <a:path w="1539438" h="2195276">
                <a:moveTo>
                  <a:pt x="0" y="0"/>
                </a:moveTo>
                <a:lnTo>
                  <a:pt x="1539437" y="0"/>
                </a:lnTo>
                <a:lnTo>
                  <a:pt x="1539437" y="2195277"/>
                </a:lnTo>
                <a:lnTo>
                  <a:pt x="0" y="21952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057782" y="9351678"/>
            <a:ext cx="396271" cy="466201"/>
          </a:xfrm>
          <a:custGeom>
            <a:avLst/>
            <a:gdLst/>
            <a:ahLst/>
            <a:cxnLst/>
            <a:rect l="l" t="t" r="r" b="b"/>
            <a:pathLst>
              <a:path w="396271" h="466201">
                <a:moveTo>
                  <a:pt x="0" y="0"/>
                </a:moveTo>
                <a:lnTo>
                  <a:pt x="396271" y="0"/>
                </a:lnTo>
                <a:lnTo>
                  <a:pt x="396271" y="466201"/>
                </a:lnTo>
                <a:lnTo>
                  <a:pt x="0" y="4662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5177642" y="-157736"/>
            <a:ext cx="3307159" cy="2372873"/>
          </a:xfrm>
          <a:custGeom>
            <a:avLst/>
            <a:gdLst/>
            <a:ahLst/>
            <a:cxnLst/>
            <a:rect l="l" t="t" r="r" b="b"/>
            <a:pathLst>
              <a:path w="3307159" h="2372873">
                <a:moveTo>
                  <a:pt x="0" y="0"/>
                </a:moveTo>
                <a:lnTo>
                  <a:pt x="3307159" y="0"/>
                </a:lnTo>
                <a:lnTo>
                  <a:pt x="3307159" y="2372872"/>
                </a:lnTo>
                <a:lnTo>
                  <a:pt x="0" y="2372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460240" y="329569"/>
            <a:ext cx="10307438" cy="1041574"/>
            <a:chOff x="0" y="-142875"/>
            <a:chExt cx="13743251" cy="138876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131226"/>
              <a:ext cx="13677372" cy="114664"/>
              <a:chOff x="0" y="0"/>
              <a:chExt cx="2701703" cy="226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01703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2701703" h="22650">
                    <a:moveTo>
                      <a:pt x="0" y="0"/>
                    </a:moveTo>
                    <a:lnTo>
                      <a:pt x="2701703" y="0"/>
                    </a:lnTo>
                    <a:lnTo>
                      <a:pt x="2701703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701703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-142875"/>
              <a:ext cx="13743251" cy="121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PHƯƠNG PHÁP NGHIÊN CỨU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8789" y="6370049"/>
            <a:ext cx="6596835" cy="2574000"/>
            <a:chOff x="0" y="0"/>
            <a:chExt cx="6151477" cy="24002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51477" cy="2400228"/>
            </a:xfrm>
            <a:custGeom>
              <a:avLst/>
              <a:gdLst/>
              <a:ahLst/>
              <a:cxnLst/>
              <a:rect l="l" t="t" r="r" b="b"/>
              <a:pathLst>
                <a:path w="6151477" h="2400228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385701" y="2669320"/>
            <a:ext cx="6596835" cy="2574000"/>
            <a:chOff x="0" y="0"/>
            <a:chExt cx="6151477" cy="24002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51477" cy="2400228"/>
            </a:xfrm>
            <a:custGeom>
              <a:avLst/>
              <a:gdLst/>
              <a:ahLst/>
              <a:cxnLst/>
              <a:rect l="l" t="t" r="r" b="b"/>
              <a:pathLst>
                <a:path w="6151477" h="2400228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28789" y="2669320"/>
            <a:ext cx="6596835" cy="2574000"/>
            <a:chOff x="0" y="0"/>
            <a:chExt cx="6151477" cy="24002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51477" cy="2400228"/>
            </a:xfrm>
            <a:custGeom>
              <a:avLst/>
              <a:gdLst/>
              <a:ahLst/>
              <a:cxnLst/>
              <a:rect l="l" t="t" r="r" b="b"/>
              <a:pathLst>
                <a:path w="6151477" h="2400228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520542" y="3242158"/>
            <a:ext cx="6213329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Tìm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hiểu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kiến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thức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lịch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sử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12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và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tham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khảo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tài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liệu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/website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tập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liên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3599" dirty="0" err="1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quan</a:t>
            </a:r>
            <a:r>
              <a:rPr lang="en-US" sz="3599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08497" y="2943225"/>
            <a:ext cx="5446610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Xác định đối tượng sử dụng, nhu cầu học – ôn – làm trắc nghiệm, và các chức năng cần có.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3961" y="7027274"/>
            <a:ext cx="628649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Xây dựng kiến trúc 3 tầng, thiết kế cơ sở dữ liệu và luồng hoạt động của hệ thống.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727613" y="2079189"/>
            <a:ext cx="3691186" cy="811134"/>
            <a:chOff x="0" y="0"/>
            <a:chExt cx="4921581" cy="108151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921581" cy="1081512"/>
              <a:chOff x="0" y="0"/>
              <a:chExt cx="3153125" cy="69289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153125" cy="692895"/>
              </a:xfrm>
              <a:custGeom>
                <a:avLst/>
                <a:gdLst/>
                <a:ahLst/>
                <a:cxnLst/>
                <a:rect l="l" t="t" r="r" b="b"/>
                <a:pathLst>
                  <a:path w="3153125" h="692895">
                    <a:moveTo>
                      <a:pt x="3028665" y="692895"/>
                    </a:moveTo>
                    <a:lnTo>
                      <a:pt x="124460" y="692895"/>
                    </a:lnTo>
                    <a:cubicBezTo>
                      <a:pt x="55880" y="692895"/>
                      <a:pt x="0" y="637015"/>
                      <a:pt x="0" y="56843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028665" y="0"/>
                    </a:lnTo>
                    <a:cubicBezTo>
                      <a:pt x="3097245" y="0"/>
                      <a:pt x="3153125" y="55880"/>
                      <a:pt x="3153125" y="124460"/>
                    </a:cubicBezTo>
                    <a:lnTo>
                      <a:pt x="3153125" y="568435"/>
                    </a:lnTo>
                    <a:cubicBezTo>
                      <a:pt x="3153125" y="637015"/>
                      <a:pt x="3097245" y="692895"/>
                      <a:pt x="3028665" y="692895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27414" y="258220"/>
              <a:ext cx="4466753" cy="555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F5F5F4"/>
                  </a:solidFill>
                  <a:latin typeface="Arial" panose="020B0604020202020204" pitchFamily="34" charset="0"/>
                  <a:ea typeface="Public Sans Bold"/>
                  <a:cs typeface="Arial" panose="020B0604020202020204" pitchFamily="34" charset="0"/>
                  <a:sym typeface="Public Sans Bold"/>
                </a:rPr>
                <a:t>Thu thập tài liệu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78562" y="2079189"/>
            <a:ext cx="5276545" cy="811134"/>
            <a:chOff x="0" y="0"/>
            <a:chExt cx="4507387" cy="6928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07387" cy="692895"/>
            </a:xfrm>
            <a:custGeom>
              <a:avLst/>
              <a:gdLst/>
              <a:ahLst/>
              <a:cxnLst/>
              <a:rect l="l" t="t" r="r" b="b"/>
              <a:pathLst>
                <a:path w="4507387" h="692895">
                  <a:moveTo>
                    <a:pt x="4382927" y="692895"/>
                  </a:moveTo>
                  <a:lnTo>
                    <a:pt x="124460" y="692895"/>
                  </a:lnTo>
                  <a:cubicBezTo>
                    <a:pt x="55880" y="692895"/>
                    <a:pt x="0" y="637015"/>
                    <a:pt x="0" y="5684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82927" y="0"/>
                  </a:lnTo>
                  <a:cubicBezTo>
                    <a:pt x="4451507" y="0"/>
                    <a:pt x="4507387" y="55880"/>
                    <a:pt x="4507387" y="124460"/>
                  </a:cubicBezTo>
                  <a:lnTo>
                    <a:pt x="4507387" y="568435"/>
                  </a:lnTo>
                  <a:cubicBezTo>
                    <a:pt x="4507387" y="637015"/>
                    <a:pt x="4451507" y="692895"/>
                    <a:pt x="4382927" y="692895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1343553" y="2250280"/>
            <a:ext cx="4946564" cy="41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699" b="1">
                <a:solidFill>
                  <a:srgbClr val="F5F5F4"/>
                </a:solidFill>
                <a:latin typeface="Arial" panose="020B0604020202020204" pitchFamily="34" charset="0"/>
                <a:ea typeface="Public Sans Bold"/>
                <a:cs typeface="Arial" panose="020B0604020202020204" pitchFamily="34" charset="0"/>
                <a:sym typeface="Public Sans Bold"/>
              </a:rPr>
              <a:t>Khảo sát &amp; phân tích yêu cầu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727613" y="5948170"/>
            <a:ext cx="3691186" cy="811134"/>
            <a:chOff x="0" y="0"/>
            <a:chExt cx="4921581" cy="1081512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921581" cy="1081512"/>
              <a:chOff x="0" y="0"/>
              <a:chExt cx="3153125" cy="69289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153125" cy="692895"/>
              </a:xfrm>
              <a:custGeom>
                <a:avLst/>
                <a:gdLst/>
                <a:ahLst/>
                <a:cxnLst/>
                <a:rect l="l" t="t" r="r" b="b"/>
                <a:pathLst>
                  <a:path w="3153125" h="692895">
                    <a:moveTo>
                      <a:pt x="3028665" y="692895"/>
                    </a:moveTo>
                    <a:lnTo>
                      <a:pt x="124460" y="692895"/>
                    </a:lnTo>
                    <a:cubicBezTo>
                      <a:pt x="55880" y="692895"/>
                      <a:pt x="0" y="637015"/>
                      <a:pt x="0" y="56843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028665" y="0"/>
                    </a:lnTo>
                    <a:cubicBezTo>
                      <a:pt x="3097245" y="0"/>
                      <a:pt x="3153125" y="55880"/>
                      <a:pt x="3153125" y="124460"/>
                    </a:cubicBezTo>
                    <a:lnTo>
                      <a:pt x="3153125" y="568435"/>
                    </a:lnTo>
                    <a:cubicBezTo>
                      <a:pt x="3153125" y="637015"/>
                      <a:pt x="3097245" y="692895"/>
                      <a:pt x="3028665" y="692895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27414" y="258220"/>
              <a:ext cx="4466753" cy="555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F5F5F4"/>
                  </a:solidFill>
                  <a:latin typeface="Arial" panose="020B0604020202020204" pitchFamily="34" charset="0"/>
                  <a:ea typeface="Public Sans Bold"/>
                  <a:cs typeface="Arial" panose="020B0604020202020204" pitchFamily="34" charset="0"/>
                  <a:sym typeface="Public Sans Bold"/>
                </a:rPr>
                <a:t>Thiết kế hệ thống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385701" y="5974007"/>
            <a:ext cx="6596835" cy="2970042"/>
            <a:chOff x="0" y="0"/>
            <a:chExt cx="8795779" cy="3960056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528056"/>
              <a:ext cx="8795779" cy="3432000"/>
              <a:chOff x="0" y="0"/>
              <a:chExt cx="6151477" cy="240022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151477" cy="2400228"/>
              </a:xfrm>
              <a:custGeom>
                <a:avLst/>
                <a:gdLst/>
                <a:ahLst/>
                <a:cxnLst/>
                <a:rect l="l" t="t" r="r" b="b"/>
                <a:pathLst>
                  <a:path w="6151477" h="2400228">
                    <a:moveTo>
                      <a:pt x="6027017" y="59690"/>
                    </a:moveTo>
                    <a:cubicBezTo>
                      <a:pt x="6062577" y="59690"/>
                      <a:pt x="6091787" y="88900"/>
                      <a:pt x="6091787" y="124460"/>
                    </a:cubicBezTo>
                    <a:lnTo>
                      <a:pt x="6091787" y="2275767"/>
                    </a:lnTo>
                    <a:cubicBezTo>
                      <a:pt x="6091787" y="2311328"/>
                      <a:pt x="6062577" y="2340537"/>
                      <a:pt x="6027017" y="2340537"/>
                    </a:cubicBezTo>
                    <a:lnTo>
                      <a:pt x="124460" y="2340537"/>
                    </a:lnTo>
                    <a:cubicBezTo>
                      <a:pt x="88900" y="2340537"/>
                      <a:pt x="59690" y="2311328"/>
                      <a:pt x="59690" y="2275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6027017" y="59690"/>
                    </a:lnTo>
                    <a:moveTo>
                      <a:pt x="602701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275767"/>
                    </a:lnTo>
                    <a:cubicBezTo>
                      <a:pt x="0" y="2344347"/>
                      <a:pt x="55880" y="2400228"/>
                      <a:pt x="124460" y="2400228"/>
                    </a:cubicBezTo>
                    <a:lnTo>
                      <a:pt x="6027017" y="2400228"/>
                    </a:lnTo>
                    <a:cubicBezTo>
                      <a:pt x="6095597" y="2400228"/>
                      <a:pt x="6151477" y="2344347"/>
                      <a:pt x="6151477" y="2275767"/>
                    </a:cubicBezTo>
                    <a:lnTo>
                      <a:pt x="6151477" y="124460"/>
                    </a:lnTo>
                    <a:cubicBezTo>
                      <a:pt x="6151477" y="55880"/>
                      <a:pt x="6095597" y="0"/>
                      <a:pt x="6027017" y="0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254952" y="1413881"/>
              <a:ext cx="8493592" cy="2200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Phát triển giao diện, xử lý nghiệp vụ, kết nối CSDL; chạy thử trên môi trường XAMPP.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774399" y="0"/>
              <a:ext cx="5246981" cy="1059763"/>
              <a:chOff x="0" y="0"/>
              <a:chExt cx="3361600" cy="67896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361600" cy="678962"/>
              </a:xfrm>
              <a:custGeom>
                <a:avLst/>
                <a:gdLst/>
                <a:ahLst/>
                <a:cxnLst/>
                <a:rect l="l" t="t" r="r" b="b"/>
                <a:pathLst>
                  <a:path w="3361600" h="678962">
                    <a:moveTo>
                      <a:pt x="3237140" y="678962"/>
                    </a:moveTo>
                    <a:lnTo>
                      <a:pt x="124460" y="678962"/>
                    </a:lnTo>
                    <a:cubicBezTo>
                      <a:pt x="55880" y="678962"/>
                      <a:pt x="0" y="623082"/>
                      <a:pt x="0" y="55450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237140" y="0"/>
                    </a:lnTo>
                    <a:cubicBezTo>
                      <a:pt x="3305720" y="0"/>
                      <a:pt x="3361600" y="55880"/>
                      <a:pt x="3361600" y="124460"/>
                    </a:cubicBezTo>
                    <a:lnTo>
                      <a:pt x="3361600" y="554502"/>
                    </a:lnTo>
                    <a:cubicBezTo>
                      <a:pt x="3361600" y="623082"/>
                      <a:pt x="3305720" y="678962"/>
                      <a:pt x="3237140" y="678962"/>
                    </a:cubicBezTo>
                    <a:close/>
                  </a:path>
                </a:pathLst>
              </a:custGeom>
              <a:solidFill>
                <a:srgbClr val="333333"/>
              </a:solidFill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001813" y="258220"/>
              <a:ext cx="4853679" cy="555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9"/>
                </a:lnSpc>
              </a:pPr>
              <a:r>
                <a:rPr lang="en-US" sz="2699" b="1">
                  <a:solidFill>
                    <a:srgbClr val="F5F5F4"/>
                  </a:solidFill>
                  <a:latin typeface="Arial" panose="020B0604020202020204" pitchFamily="34" charset="0"/>
                  <a:ea typeface="Public Sans Bold"/>
                  <a:cs typeface="Arial" panose="020B0604020202020204" pitchFamily="34" charset="0"/>
                  <a:sym typeface="Public Sans Bold"/>
                </a:rPr>
                <a:t>Xây dựng &amp; triển khai</a:t>
              </a:r>
            </a:p>
          </p:txBody>
        </p:sp>
      </p:grpSp>
      <p:sp>
        <p:nvSpPr>
          <p:cNvPr id="35" name="Freeform 35"/>
          <p:cNvSpPr/>
          <p:nvPr/>
        </p:nvSpPr>
        <p:spPr>
          <a:xfrm flipH="1" flipV="1">
            <a:off x="14535950" y="-1162208"/>
            <a:ext cx="4355586" cy="2936596"/>
          </a:xfrm>
          <a:custGeom>
            <a:avLst/>
            <a:gdLst/>
            <a:ahLst/>
            <a:cxnLst/>
            <a:rect l="l" t="t" r="r" b="b"/>
            <a:pathLst>
              <a:path w="4355586" h="2936596">
                <a:moveTo>
                  <a:pt x="4355586" y="2936597"/>
                </a:moveTo>
                <a:lnTo>
                  <a:pt x="0" y="2936597"/>
                </a:lnTo>
                <a:lnTo>
                  <a:pt x="0" y="0"/>
                </a:lnTo>
                <a:lnTo>
                  <a:pt x="4355586" y="0"/>
                </a:lnTo>
                <a:lnTo>
                  <a:pt x="4355586" y="29365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922573" y="-676792"/>
            <a:ext cx="3597167" cy="2936596"/>
          </a:xfrm>
          <a:custGeom>
            <a:avLst/>
            <a:gdLst/>
            <a:ahLst/>
            <a:cxnLst/>
            <a:rect l="l" t="t" r="r" b="b"/>
            <a:pathLst>
              <a:path w="3597167" h="2936596">
                <a:moveTo>
                  <a:pt x="0" y="0"/>
                </a:moveTo>
                <a:lnTo>
                  <a:pt x="3597167" y="0"/>
                </a:lnTo>
                <a:lnTo>
                  <a:pt x="3597167" y="2936597"/>
                </a:lnTo>
                <a:lnTo>
                  <a:pt x="0" y="293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vi-V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898105" y="3328737"/>
            <a:ext cx="5384865" cy="3932041"/>
            <a:chOff x="0" y="0"/>
            <a:chExt cx="6145013" cy="52427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145013" cy="5242722"/>
              <a:chOff x="0" y="0"/>
              <a:chExt cx="4811588" cy="410508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1588" cy="4105088"/>
              </a:xfrm>
              <a:custGeom>
                <a:avLst/>
                <a:gdLst/>
                <a:ahLst/>
                <a:cxnLst/>
                <a:rect l="l" t="t" r="r" b="b"/>
                <a:pathLst>
                  <a:path w="4811588" h="4105088">
                    <a:moveTo>
                      <a:pt x="25075" y="0"/>
                    </a:moveTo>
                    <a:lnTo>
                      <a:pt x="4786514" y="0"/>
                    </a:lnTo>
                    <a:cubicBezTo>
                      <a:pt x="4793164" y="0"/>
                      <a:pt x="4799542" y="2642"/>
                      <a:pt x="4804244" y="7344"/>
                    </a:cubicBezTo>
                    <a:cubicBezTo>
                      <a:pt x="4808947" y="12047"/>
                      <a:pt x="4811588" y="18425"/>
                      <a:pt x="4811588" y="25075"/>
                    </a:cubicBezTo>
                    <a:lnTo>
                      <a:pt x="4811588" y="4080013"/>
                    </a:lnTo>
                    <a:cubicBezTo>
                      <a:pt x="4811588" y="4086663"/>
                      <a:pt x="4808947" y="4093041"/>
                      <a:pt x="4804244" y="4097744"/>
                    </a:cubicBezTo>
                    <a:cubicBezTo>
                      <a:pt x="4799542" y="4102446"/>
                      <a:pt x="4793164" y="4105088"/>
                      <a:pt x="4786514" y="4105088"/>
                    </a:cubicBezTo>
                    <a:lnTo>
                      <a:pt x="25075" y="4105088"/>
                    </a:lnTo>
                    <a:cubicBezTo>
                      <a:pt x="18425" y="4105088"/>
                      <a:pt x="12047" y="4102446"/>
                      <a:pt x="7344" y="4097744"/>
                    </a:cubicBezTo>
                    <a:cubicBezTo>
                      <a:pt x="2642" y="4093041"/>
                      <a:pt x="0" y="4086663"/>
                      <a:pt x="0" y="4080013"/>
                    </a:cubicBezTo>
                    <a:lnTo>
                      <a:pt x="0" y="25075"/>
                    </a:lnTo>
                    <a:cubicBezTo>
                      <a:pt x="0" y="18425"/>
                      <a:pt x="2642" y="12047"/>
                      <a:pt x="7344" y="7344"/>
                    </a:cubicBezTo>
                    <a:cubicBezTo>
                      <a:pt x="12047" y="2642"/>
                      <a:pt x="18425" y="0"/>
                      <a:pt x="25075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66675"/>
                <a:ext cx="4811588" cy="4171763"/>
              </a:xfrm>
              <a:prstGeom prst="rect">
                <a:avLst/>
              </a:prstGeom>
            </p:spPr>
            <p:txBody>
              <a:bodyPr lIns="43463" tIns="43463" rIns="43463" bIns="43463" rtlCol="0" anchor="ctr"/>
              <a:lstStyle/>
              <a:p>
                <a:pPr algn="r">
                  <a:lnSpc>
                    <a:spcPts val="33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20943" y="1765628"/>
              <a:ext cx="5503125" cy="34389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4106"/>
                </a:lnSpc>
              </a:pPr>
              <a:r>
                <a:rPr lang="vi-VN" sz="2800" dirty="0">
                  <a:latin typeface="Arial" panose="020B0604020202020204" pitchFamily="34" charset="0"/>
                  <a:cs typeface="Arial" panose="020B0604020202020204" pitchFamily="34" charset="0"/>
                </a:rPr>
                <a:t>SGK đảm bảo nội dung chuẩn, tuy nhiên thiếu môi trường ôn luyện trực tuyến và không có chức năng thống kê tiến độ cho người học.</a:t>
              </a:r>
              <a:endParaRPr lang="en-US" sz="2700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2210222" y="319726"/>
              <a:ext cx="1724569" cy="1248157"/>
            </a:xfrm>
            <a:custGeom>
              <a:avLst/>
              <a:gdLst/>
              <a:ahLst/>
              <a:cxnLst/>
              <a:rect l="l" t="t" r="r" b="b"/>
              <a:pathLst>
                <a:path w="1724569" h="1248157">
                  <a:moveTo>
                    <a:pt x="0" y="0"/>
                  </a:moveTo>
                  <a:lnTo>
                    <a:pt x="1724569" y="0"/>
                  </a:lnTo>
                  <a:lnTo>
                    <a:pt x="1724569" y="1248157"/>
                  </a:lnTo>
                  <a:lnTo>
                    <a:pt x="0" y="1248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81989" y="3314699"/>
            <a:ext cx="5770223" cy="3932042"/>
            <a:chOff x="0" y="0"/>
            <a:chExt cx="7054444" cy="52427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054444" cy="5242722"/>
              <a:chOff x="0" y="0"/>
              <a:chExt cx="5523679" cy="41050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523680" cy="4105089"/>
              </a:xfrm>
              <a:custGeom>
                <a:avLst/>
                <a:gdLst/>
                <a:ahLst/>
                <a:cxnLst/>
                <a:rect l="l" t="t" r="r" b="b"/>
                <a:pathLst>
                  <a:path w="5523680" h="4105089">
                    <a:moveTo>
                      <a:pt x="21842" y="0"/>
                    </a:moveTo>
                    <a:lnTo>
                      <a:pt x="5501837" y="0"/>
                    </a:lnTo>
                    <a:cubicBezTo>
                      <a:pt x="5507630" y="0"/>
                      <a:pt x="5513186" y="2301"/>
                      <a:pt x="5517282" y="6398"/>
                    </a:cubicBezTo>
                    <a:cubicBezTo>
                      <a:pt x="5521378" y="10494"/>
                      <a:pt x="5523680" y="16049"/>
                      <a:pt x="5523680" y="21842"/>
                    </a:cubicBezTo>
                    <a:lnTo>
                      <a:pt x="5523680" y="4083246"/>
                    </a:lnTo>
                    <a:cubicBezTo>
                      <a:pt x="5523680" y="4095309"/>
                      <a:pt x="5513900" y="4105089"/>
                      <a:pt x="5501837" y="4105089"/>
                    </a:cubicBezTo>
                    <a:lnTo>
                      <a:pt x="21842" y="4105089"/>
                    </a:lnTo>
                    <a:cubicBezTo>
                      <a:pt x="9779" y="4105089"/>
                      <a:pt x="0" y="4095309"/>
                      <a:pt x="0" y="4083246"/>
                    </a:cubicBezTo>
                    <a:lnTo>
                      <a:pt x="0" y="21842"/>
                    </a:lnTo>
                    <a:cubicBezTo>
                      <a:pt x="0" y="9779"/>
                      <a:pt x="9779" y="0"/>
                      <a:pt x="21842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5523679" cy="4162238"/>
              </a:xfrm>
              <a:prstGeom prst="rect">
                <a:avLst/>
              </a:prstGeom>
            </p:spPr>
            <p:txBody>
              <a:bodyPr lIns="43463" tIns="43463" rIns="43463" bIns="43463" rtlCol="0" anchor="ctr"/>
              <a:lstStyle/>
              <a:p>
                <a:pPr algn="r">
                  <a:lnSpc>
                    <a:spcPts val="33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729163" y="211618"/>
              <a:ext cx="1373433" cy="1356265"/>
            </a:xfrm>
            <a:custGeom>
              <a:avLst/>
              <a:gdLst/>
              <a:ahLst/>
              <a:cxnLst/>
              <a:rect l="l" t="t" r="r" b="b"/>
              <a:pathLst>
                <a:path w="1373433" h="1356265">
                  <a:moveTo>
                    <a:pt x="0" y="0"/>
                  </a:moveTo>
                  <a:lnTo>
                    <a:pt x="1373432" y="0"/>
                  </a:lnTo>
                  <a:lnTo>
                    <a:pt x="1373432" y="1356265"/>
                  </a:lnTo>
                  <a:lnTo>
                    <a:pt x="0" y="1356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275264" y="1824954"/>
              <a:ext cx="6503914" cy="33577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3969"/>
                </a:lnSpc>
              </a:pPr>
              <a:r>
                <a:rPr lang="vi-VN" sz="2800" dirty="0">
                  <a:latin typeface="Arial" panose="020B0604020202020204" pitchFamily="34" charset="0"/>
                  <a:cs typeface="Arial" panose="020B0604020202020204" pitchFamily="34" charset="0"/>
                </a:rPr>
                <a:t>VietJack và Baitaptracnghiem cung cấp tốt nội dung theo SGK và câu hỏi trắc nghiệm, nhưng chưa hỗ trợ lưu kết quả và theo dõi tiến độ học tập.</a:t>
              </a:r>
              <a:endParaRPr lang="en-US" sz="2700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96088" y="3314699"/>
            <a:ext cx="5325965" cy="3932042"/>
            <a:chOff x="0" y="0"/>
            <a:chExt cx="6965860" cy="5242722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965860" cy="5242722"/>
              <a:chOff x="0" y="0"/>
              <a:chExt cx="5454318" cy="410508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454318" cy="4105089"/>
              </a:xfrm>
              <a:custGeom>
                <a:avLst/>
                <a:gdLst/>
                <a:ahLst/>
                <a:cxnLst/>
                <a:rect l="l" t="t" r="r" b="b"/>
                <a:pathLst>
                  <a:path w="5454318" h="4105089">
                    <a:moveTo>
                      <a:pt x="22120" y="0"/>
                    </a:moveTo>
                    <a:lnTo>
                      <a:pt x="5432197" y="0"/>
                    </a:lnTo>
                    <a:cubicBezTo>
                      <a:pt x="5438064" y="0"/>
                      <a:pt x="5443691" y="2331"/>
                      <a:pt x="5447839" y="6479"/>
                    </a:cubicBezTo>
                    <a:cubicBezTo>
                      <a:pt x="5451987" y="10627"/>
                      <a:pt x="5454318" y="16254"/>
                      <a:pt x="5454318" y="22120"/>
                    </a:cubicBezTo>
                    <a:lnTo>
                      <a:pt x="5454318" y="4082968"/>
                    </a:lnTo>
                    <a:cubicBezTo>
                      <a:pt x="5454318" y="4095185"/>
                      <a:pt x="5444414" y="4105089"/>
                      <a:pt x="5432197" y="4105089"/>
                    </a:cubicBezTo>
                    <a:lnTo>
                      <a:pt x="22120" y="4105089"/>
                    </a:lnTo>
                    <a:cubicBezTo>
                      <a:pt x="9904" y="4105089"/>
                      <a:pt x="0" y="4095185"/>
                      <a:pt x="0" y="4082968"/>
                    </a:cubicBezTo>
                    <a:lnTo>
                      <a:pt x="0" y="22120"/>
                    </a:lnTo>
                    <a:cubicBezTo>
                      <a:pt x="0" y="9904"/>
                      <a:pt x="9904" y="0"/>
                      <a:pt x="22120" y="0"/>
                    </a:cubicBezTo>
                    <a:close/>
                  </a:path>
                </a:pathLst>
              </a:custGeom>
              <a:solidFill>
                <a:srgbClr val="FFFFFF">
                  <a:alpha val="49804"/>
                </a:srgbClr>
              </a:solidFill>
              <a:ln w="28575" cap="sq">
                <a:solidFill>
                  <a:srgbClr val="000000">
                    <a:alpha val="49804"/>
                  </a:srgbClr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5454318" cy="4162238"/>
              </a:xfrm>
              <a:prstGeom prst="rect">
                <a:avLst/>
              </a:prstGeom>
            </p:spPr>
            <p:txBody>
              <a:bodyPr lIns="43463" tIns="43463" rIns="43463" bIns="43463" rtlCol="0" anchor="ctr"/>
              <a:lstStyle/>
              <a:p>
                <a:pPr algn="r">
                  <a:lnSpc>
                    <a:spcPts val="33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666166" y="319726"/>
              <a:ext cx="1633529" cy="1633529"/>
            </a:xfrm>
            <a:custGeom>
              <a:avLst/>
              <a:gdLst/>
              <a:ahLst/>
              <a:cxnLst/>
              <a:rect l="l" t="t" r="r" b="b"/>
              <a:pathLst>
                <a:path w="1633529" h="1633529">
                  <a:moveTo>
                    <a:pt x="0" y="0"/>
                  </a:moveTo>
                  <a:lnTo>
                    <a:pt x="1633529" y="0"/>
                  </a:lnTo>
                  <a:lnTo>
                    <a:pt x="1633529" y="1633528"/>
                  </a:lnTo>
                  <a:lnTo>
                    <a:pt x="0" y="163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00587" y="1982412"/>
              <a:ext cx="6760159" cy="2733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06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Vì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vậy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,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cần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xây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dựng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hệ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thống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</a:p>
            <a:p>
              <a:pPr algn="ctr">
                <a:lnSpc>
                  <a:spcPts val="4106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tích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hợp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học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–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trắc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nghiệm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– </a:t>
              </a:r>
            </a:p>
            <a:p>
              <a:pPr marL="0" lvl="0" indent="0" algn="ctr">
                <a:lnSpc>
                  <a:spcPts val="4106"/>
                </a:lnSpc>
              </a:pP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lưu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quả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–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thống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kê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tiến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độ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trong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một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nền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tảng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thống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800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nhất</a:t>
              </a:r>
              <a:r>
                <a:rPr 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3543" y="468652"/>
            <a:ext cx="7114421" cy="885160"/>
            <a:chOff x="0" y="-123825"/>
            <a:chExt cx="9485894" cy="118021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941723"/>
              <a:ext cx="9485894" cy="114664"/>
              <a:chOff x="0" y="0"/>
              <a:chExt cx="1873757" cy="226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873757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873757" h="22650">
                    <a:moveTo>
                      <a:pt x="0" y="0"/>
                    </a:moveTo>
                    <a:lnTo>
                      <a:pt x="1873757" y="0"/>
                    </a:lnTo>
                    <a:lnTo>
                      <a:pt x="1873757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873757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-123825"/>
              <a:ext cx="9451749" cy="1077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923"/>
                </a:lnSpc>
              </a:pPr>
              <a:r>
                <a:rPr lang="en-US" sz="4945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 QUẢ NGHIÊN CỨU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6310-E373-CB3A-1BAE-311A7588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CF0FF8-DF91-BF5D-5289-368DE4C53C3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CEA6E66-7B85-2450-60A9-A5033DBEBCDE}"/>
              </a:ext>
            </a:extLst>
          </p:cNvPr>
          <p:cNvGrpSpPr/>
          <p:nvPr/>
        </p:nvGrpSpPr>
        <p:grpSpPr>
          <a:xfrm>
            <a:off x="1219200" y="854098"/>
            <a:ext cx="7114421" cy="885159"/>
            <a:chOff x="0" y="-123825"/>
            <a:chExt cx="9485894" cy="1180212"/>
          </a:xfrm>
        </p:grpSpPr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D7C8B236-4CFA-5FC6-53B1-871450FEDD29}"/>
                </a:ext>
              </a:extLst>
            </p:cNvPr>
            <p:cNvGrpSpPr/>
            <p:nvPr/>
          </p:nvGrpSpPr>
          <p:grpSpPr>
            <a:xfrm>
              <a:off x="0" y="941723"/>
              <a:ext cx="9485894" cy="114664"/>
              <a:chOff x="0" y="0"/>
              <a:chExt cx="1873757" cy="2265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9F3D6C1-ECFF-AC28-A355-6DD16BD88F9E}"/>
                  </a:ext>
                </a:extLst>
              </p:cNvPr>
              <p:cNvSpPr/>
              <p:nvPr/>
            </p:nvSpPr>
            <p:spPr>
              <a:xfrm>
                <a:off x="0" y="0"/>
                <a:ext cx="1873757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1873757" h="22650">
                    <a:moveTo>
                      <a:pt x="0" y="0"/>
                    </a:moveTo>
                    <a:lnTo>
                      <a:pt x="1873757" y="0"/>
                    </a:lnTo>
                    <a:lnTo>
                      <a:pt x="1873757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4A6B6BB-F655-5186-B4EB-4D9DE7CBCE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873757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74C5908F-5903-D409-9C63-7FCDDF8492B4}"/>
                </a:ext>
              </a:extLst>
            </p:cNvPr>
            <p:cNvSpPr txBox="1"/>
            <p:nvPr/>
          </p:nvSpPr>
          <p:spPr>
            <a:xfrm>
              <a:off x="0" y="-123825"/>
              <a:ext cx="9451749" cy="1077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923"/>
                </a:lnSpc>
              </a:pPr>
              <a:r>
                <a:rPr lang="en-US" sz="4945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KẾT QUẢ NGHIÊN CỨU</a:t>
              </a:r>
            </a:p>
          </p:txBody>
        </p:sp>
      </p:grpSp>
      <p:graphicFrame>
        <p:nvGraphicFramePr>
          <p:cNvPr id="43" name="Table 27">
            <a:extLst>
              <a:ext uri="{FF2B5EF4-FFF2-40B4-BE49-F238E27FC236}">
                <a16:creationId xmlns:a16="http://schemas.microsoft.com/office/drawing/2014/main" id="{F453A6AF-00DD-D89E-DB15-D3E6AD5E3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028017"/>
              </p:ext>
            </p:extLst>
          </p:nvPr>
        </p:nvGraphicFramePr>
        <p:xfrm>
          <a:off x="1219200" y="3088800"/>
          <a:ext cx="15849600" cy="5539412"/>
        </p:xfrm>
        <a:graphic>
          <a:graphicData uri="http://schemas.openxmlformats.org/drawingml/2006/table">
            <a:tbl>
              <a:tblPr/>
              <a:tblGrid>
                <a:gridCol w="440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32632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 spc="-72" dirty="0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TIÊU CHÍ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 spc="-65" dirty="0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VIETJACK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 spc="-65" dirty="0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BAITAPTRACNGHIEM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 spc="-65" dirty="0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SGK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95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6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 theo SGK</a:t>
                      </a: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958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spc="-65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Trắc nghiệm</a:t>
                      </a: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6958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spc="-65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Lưu kết quả thống kê</a:t>
                      </a: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5906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spc="-65" dirty="0" err="1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Thống</a:t>
                      </a:r>
                      <a:r>
                        <a:rPr lang="en-US" sz="2999" spc="-65" dirty="0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999" spc="-65" dirty="0" err="1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kê</a:t>
                      </a:r>
                      <a:r>
                        <a:rPr lang="en-US" sz="2999" spc="-65" dirty="0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999" spc="-65" dirty="0" err="1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tiến</a:t>
                      </a:r>
                      <a:r>
                        <a:rPr lang="en-US" sz="2999" spc="-65" dirty="0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999" spc="-65" dirty="0" err="1">
                          <a:solidFill>
                            <a:srgbClr val="403E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độ</a:t>
                      </a: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 dirty="0"/>
                    </a:p>
                  </a:txBody>
                  <a:tcPr marL="95250" marR="95250" marT="95250" marB="95250" anchor="ctr">
                    <a:lnL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89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Freeform 28">
            <a:extLst>
              <a:ext uri="{FF2B5EF4-FFF2-40B4-BE49-F238E27FC236}">
                <a16:creationId xmlns:a16="http://schemas.microsoft.com/office/drawing/2014/main" id="{CD6D7213-873F-7298-9B0C-68B1347D0BC2}"/>
              </a:ext>
            </a:extLst>
          </p:cNvPr>
          <p:cNvSpPr/>
          <p:nvPr/>
        </p:nvSpPr>
        <p:spPr>
          <a:xfrm>
            <a:off x="15059270" y="4779018"/>
            <a:ext cx="653527" cy="704789"/>
          </a:xfrm>
          <a:custGeom>
            <a:avLst/>
            <a:gdLst/>
            <a:ahLst/>
            <a:cxnLst/>
            <a:rect l="l" t="t" r="r" b="b"/>
            <a:pathLst>
              <a:path w="788521" h="730315">
                <a:moveTo>
                  <a:pt x="0" y="0"/>
                </a:moveTo>
                <a:lnTo>
                  <a:pt x="788521" y="0"/>
                </a:lnTo>
                <a:lnTo>
                  <a:pt x="788521" y="730315"/>
                </a:lnTo>
                <a:lnTo>
                  <a:pt x="0" y="73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32">
            <a:extLst>
              <a:ext uri="{FF2B5EF4-FFF2-40B4-BE49-F238E27FC236}">
                <a16:creationId xmlns:a16="http://schemas.microsoft.com/office/drawing/2014/main" id="{553E120B-A26E-F6AD-4FD3-FD91E0444FA7}"/>
              </a:ext>
            </a:extLst>
          </p:cNvPr>
          <p:cNvSpPr/>
          <p:nvPr/>
        </p:nvSpPr>
        <p:spPr>
          <a:xfrm>
            <a:off x="6960369" y="4774243"/>
            <a:ext cx="653527" cy="704789"/>
          </a:xfrm>
          <a:custGeom>
            <a:avLst/>
            <a:gdLst/>
            <a:ahLst/>
            <a:cxnLst/>
            <a:rect l="l" t="t" r="r" b="b"/>
            <a:pathLst>
              <a:path w="788521" h="730315">
                <a:moveTo>
                  <a:pt x="0" y="0"/>
                </a:moveTo>
                <a:lnTo>
                  <a:pt x="788520" y="0"/>
                </a:lnTo>
                <a:lnTo>
                  <a:pt x="788520" y="730315"/>
                </a:lnTo>
                <a:lnTo>
                  <a:pt x="0" y="73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33">
            <a:extLst>
              <a:ext uri="{FF2B5EF4-FFF2-40B4-BE49-F238E27FC236}">
                <a16:creationId xmlns:a16="http://schemas.microsoft.com/office/drawing/2014/main" id="{E461382B-BF05-3767-5EB7-FADD1B20DD38}"/>
              </a:ext>
            </a:extLst>
          </p:cNvPr>
          <p:cNvSpPr/>
          <p:nvPr/>
        </p:nvSpPr>
        <p:spPr>
          <a:xfrm>
            <a:off x="6960369" y="5800413"/>
            <a:ext cx="653527" cy="704789"/>
          </a:xfrm>
          <a:custGeom>
            <a:avLst/>
            <a:gdLst/>
            <a:ahLst/>
            <a:cxnLst/>
            <a:rect l="l" t="t" r="r" b="b"/>
            <a:pathLst>
              <a:path w="788521" h="730315">
                <a:moveTo>
                  <a:pt x="0" y="0"/>
                </a:moveTo>
                <a:lnTo>
                  <a:pt x="788520" y="0"/>
                </a:lnTo>
                <a:lnTo>
                  <a:pt x="788520" y="730315"/>
                </a:lnTo>
                <a:lnTo>
                  <a:pt x="0" y="73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34">
            <a:extLst>
              <a:ext uri="{FF2B5EF4-FFF2-40B4-BE49-F238E27FC236}">
                <a16:creationId xmlns:a16="http://schemas.microsoft.com/office/drawing/2014/main" id="{E9E92AE9-1A5E-431B-9736-3CA7A4637083}"/>
              </a:ext>
            </a:extLst>
          </p:cNvPr>
          <p:cNvSpPr/>
          <p:nvPr/>
        </p:nvSpPr>
        <p:spPr>
          <a:xfrm>
            <a:off x="7058797" y="6769609"/>
            <a:ext cx="554040" cy="621159"/>
          </a:xfrm>
          <a:custGeom>
            <a:avLst/>
            <a:gdLst/>
            <a:ahLst/>
            <a:cxnLst/>
            <a:rect l="l" t="t" r="r" b="b"/>
            <a:pathLst>
              <a:path w="631588" h="643656">
                <a:moveTo>
                  <a:pt x="0" y="0"/>
                </a:moveTo>
                <a:lnTo>
                  <a:pt x="631587" y="0"/>
                </a:lnTo>
                <a:lnTo>
                  <a:pt x="631587" y="643657"/>
                </a:lnTo>
                <a:lnTo>
                  <a:pt x="0" y="643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2" name="Freeform 35">
            <a:extLst>
              <a:ext uri="{FF2B5EF4-FFF2-40B4-BE49-F238E27FC236}">
                <a16:creationId xmlns:a16="http://schemas.microsoft.com/office/drawing/2014/main" id="{0388D7F8-8A7B-C230-0CE2-4A7E7170D0E2}"/>
              </a:ext>
            </a:extLst>
          </p:cNvPr>
          <p:cNvSpPr/>
          <p:nvPr/>
        </p:nvSpPr>
        <p:spPr>
          <a:xfrm>
            <a:off x="7058798" y="7828677"/>
            <a:ext cx="554040" cy="621159"/>
          </a:xfrm>
          <a:custGeom>
            <a:avLst/>
            <a:gdLst/>
            <a:ahLst/>
            <a:cxnLst/>
            <a:rect l="l" t="t" r="r" b="b"/>
            <a:pathLst>
              <a:path w="631588" h="643656">
                <a:moveTo>
                  <a:pt x="0" y="0"/>
                </a:moveTo>
                <a:lnTo>
                  <a:pt x="631587" y="0"/>
                </a:lnTo>
                <a:lnTo>
                  <a:pt x="631587" y="643656"/>
                </a:lnTo>
                <a:lnTo>
                  <a:pt x="0" y="643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3" name="Freeform 36">
            <a:extLst>
              <a:ext uri="{FF2B5EF4-FFF2-40B4-BE49-F238E27FC236}">
                <a16:creationId xmlns:a16="http://schemas.microsoft.com/office/drawing/2014/main" id="{D6D8504D-B369-5F20-3FB8-2283F68E4088}"/>
              </a:ext>
            </a:extLst>
          </p:cNvPr>
          <p:cNvSpPr/>
          <p:nvPr/>
        </p:nvSpPr>
        <p:spPr>
          <a:xfrm>
            <a:off x="11114929" y="4779018"/>
            <a:ext cx="653527" cy="704789"/>
          </a:xfrm>
          <a:custGeom>
            <a:avLst/>
            <a:gdLst/>
            <a:ahLst/>
            <a:cxnLst/>
            <a:rect l="l" t="t" r="r" b="b"/>
            <a:pathLst>
              <a:path w="788521" h="730315">
                <a:moveTo>
                  <a:pt x="0" y="0"/>
                </a:moveTo>
                <a:lnTo>
                  <a:pt x="788521" y="0"/>
                </a:lnTo>
                <a:lnTo>
                  <a:pt x="788521" y="730315"/>
                </a:lnTo>
                <a:lnTo>
                  <a:pt x="0" y="73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37">
            <a:extLst>
              <a:ext uri="{FF2B5EF4-FFF2-40B4-BE49-F238E27FC236}">
                <a16:creationId xmlns:a16="http://schemas.microsoft.com/office/drawing/2014/main" id="{55B0F55C-D25E-0487-DA39-BACD2103332D}"/>
              </a:ext>
            </a:extLst>
          </p:cNvPr>
          <p:cNvSpPr/>
          <p:nvPr/>
        </p:nvSpPr>
        <p:spPr>
          <a:xfrm>
            <a:off x="11114929" y="5800413"/>
            <a:ext cx="653527" cy="704789"/>
          </a:xfrm>
          <a:custGeom>
            <a:avLst/>
            <a:gdLst/>
            <a:ahLst/>
            <a:cxnLst/>
            <a:rect l="l" t="t" r="r" b="b"/>
            <a:pathLst>
              <a:path w="788521" h="730315">
                <a:moveTo>
                  <a:pt x="0" y="0"/>
                </a:moveTo>
                <a:lnTo>
                  <a:pt x="788521" y="0"/>
                </a:lnTo>
                <a:lnTo>
                  <a:pt x="788521" y="730315"/>
                </a:lnTo>
                <a:lnTo>
                  <a:pt x="0" y="73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38">
            <a:extLst>
              <a:ext uri="{FF2B5EF4-FFF2-40B4-BE49-F238E27FC236}">
                <a16:creationId xmlns:a16="http://schemas.microsoft.com/office/drawing/2014/main" id="{78CA261B-801E-AAC7-944F-2ACF50D62490}"/>
              </a:ext>
            </a:extLst>
          </p:cNvPr>
          <p:cNvSpPr/>
          <p:nvPr/>
        </p:nvSpPr>
        <p:spPr>
          <a:xfrm>
            <a:off x="11164671" y="6727795"/>
            <a:ext cx="653527" cy="657447"/>
          </a:xfrm>
          <a:custGeom>
            <a:avLst/>
            <a:gdLst/>
            <a:ahLst/>
            <a:cxnLst/>
            <a:rect l="l" t="t" r="r" b="b"/>
            <a:pathLst>
              <a:path w="668485" h="681259">
                <a:moveTo>
                  <a:pt x="0" y="0"/>
                </a:moveTo>
                <a:lnTo>
                  <a:pt x="668485" y="0"/>
                </a:lnTo>
                <a:lnTo>
                  <a:pt x="668485" y="681259"/>
                </a:lnTo>
                <a:lnTo>
                  <a:pt x="0" y="6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6" name="Freeform 39">
            <a:extLst>
              <a:ext uri="{FF2B5EF4-FFF2-40B4-BE49-F238E27FC236}">
                <a16:creationId xmlns:a16="http://schemas.microsoft.com/office/drawing/2014/main" id="{D0A91804-A044-6EAA-29E3-87DF143D7A1D}"/>
              </a:ext>
            </a:extLst>
          </p:cNvPr>
          <p:cNvSpPr/>
          <p:nvPr/>
        </p:nvSpPr>
        <p:spPr>
          <a:xfrm>
            <a:off x="11164671" y="7792389"/>
            <a:ext cx="653527" cy="657447"/>
          </a:xfrm>
          <a:custGeom>
            <a:avLst/>
            <a:gdLst/>
            <a:ahLst/>
            <a:cxnLst/>
            <a:rect l="l" t="t" r="r" b="b"/>
            <a:pathLst>
              <a:path w="668485" h="681259">
                <a:moveTo>
                  <a:pt x="0" y="0"/>
                </a:moveTo>
                <a:lnTo>
                  <a:pt x="668485" y="0"/>
                </a:lnTo>
                <a:lnTo>
                  <a:pt x="668485" y="681259"/>
                </a:lnTo>
                <a:lnTo>
                  <a:pt x="0" y="6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7" name="Freeform 69">
            <a:extLst>
              <a:ext uri="{FF2B5EF4-FFF2-40B4-BE49-F238E27FC236}">
                <a16:creationId xmlns:a16="http://schemas.microsoft.com/office/drawing/2014/main" id="{D0E928E4-6910-F5EF-E6F1-195AF4E680FD}"/>
              </a:ext>
            </a:extLst>
          </p:cNvPr>
          <p:cNvSpPr/>
          <p:nvPr/>
        </p:nvSpPr>
        <p:spPr>
          <a:xfrm rot="778115">
            <a:off x="15515460" y="84960"/>
            <a:ext cx="3711552" cy="2918882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5040401" y="0"/>
                </a:moveTo>
                <a:lnTo>
                  <a:pt x="0" y="0"/>
                </a:lnTo>
                <a:lnTo>
                  <a:pt x="0" y="4114800"/>
                </a:lnTo>
                <a:lnTo>
                  <a:pt x="5040401" y="4114800"/>
                </a:lnTo>
                <a:lnTo>
                  <a:pt x="504040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11DF8307-4E2F-3CB3-DB37-E7E641030813}"/>
              </a:ext>
            </a:extLst>
          </p:cNvPr>
          <p:cNvSpPr/>
          <p:nvPr/>
        </p:nvSpPr>
        <p:spPr>
          <a:xfrm>
            <a:off x="15059270" y="5663201"/>
            <a:ext cx="653527" cy="657447"/>
          </a:xfrm>
          <a:custGeom>
            <a:avLst/>
            <a:gdLst/>
            <a:ahLst/>
            <a:cxnLst/>
            <a:rect l="l" t="t" r="r" b="b"/>
            <a:pathLst>
              <a:path w="668485" h="681259">
                <a:moveTo>
                  <a:pt x="0" y="0"/>
                </a:moveTo>
                <a:lnTo>
                  <a:pt x="668485" y="0"/>
                </a:lnTo>
                <a:lnTo>
                  <a:pt x="668485" y="681259"/>
                </a:lnTo>
                <a:lnTo>
                  <a:pt x="0" y="6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39">
            <a:extLst>
              <a:ext uri="{FF2B5EF4-FFF2-40B4-BE49-F238E27FC236}">
                <a16:creationId xmlns:a16="http://schemas.microsoft.com/office/drawing/2014/main" id="{27A526CB-BD66-568F-B705-D3BD8399B18E}"/>
              </a:ext>
            </a:extLst>
          </p:cNvPr>
          <p:cNvSpPr/>
          <p:nvPr/>
        </p:nvSpPr>
        <p:spPr>
          <a:xfrm>
            <a:off x="15059270" y="6727795"/>
            <a:ext cx="653527" cy="657447"/>
          </a:xfrm>
          <a:custGeom>
            <a:avLst/>
            <a:gdLst/>
            <a:ahLst/>
            <a:cxnLst/>
            <a:rect l="l" t="t" r="r" b="b"/>
            <a:pathLst>
              <a:path w="668485" h="681259">
                <a:moveTo>
                  <a:pt x="0" y="0"/>
                </a:moveTo>
                <a:lnTo>
                  <a:pt x="668485" y="0"/>
                </a:lnTo>
                <a:lnTo>
                  <a:pt x="668485" y="681259"/>
                </a:lnTo>
                <a:lnTo>
                  <a:pt x="0" y="6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8A37C167-6D4D-F96B-EEBA-4D9593C8CBF3}"/>
              </a:ext>
            </a:extLst>
          </p:cNvPr>
          <p:cNvSpPr/>
          <p:nvPr/>
        </p:nvSpPr>
        <p:spPr>
          <a:xfrm>
            <a:off x="15043267" y="7724119"/>
            <a:ext cx="653527" cy="657447"/>
          </a:xfrm>
          <a:custGeom>
            <a:avLst/>
            <a:gdLst/>
            <a:ahLst/>
            <a:cxnLst/>
            <a:rect l="l" t="t" r="r" b="b"/>
            <a:pathLst>
              <a:path w="668485" h="681259">
                <a:moveTo>
                  <a:pt x="0" y="0"/>
                </a:moveTo>
                <a:lnTo>
                  <a:pt x="668485" y="0"/>
                </a:lnTo>
                <a:lnTo>
                  <a:pt x="668485" y="681259"/>
                </a:lnTo>
                <a:lnTo>
                  <a:pt x="0" y="68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6087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05699" y="525083"/>
            <a:ext cx="16097095" cy="1041574"/>
            <a:chOff x="0" y="-142875"/>
            <a:chExt cx="21462793" cy="138876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131226"/>
              <a:ext cx="18861081" cy="114664"/>
              <a:chOff x="0" y="0"/>
              <a:chExt cx="3725646" cy="226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72564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3725645" h="22650">
                    <a:moveTo>
                      <a:pt x="0" y="0"/>
                    </a:moveTo>
                    <a:lnTo>
                      <a:pt x="3725645" y="0"/>
                    </a:lnTo>
                    <a:lnTo>
                      <a:pt x="3725645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725646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-142875"/>
              <a:ext cx="21462793" cy="121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CÁC CHỨC NĂNG CHÍNH CỦA HỆ THỐNG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013873" y="2166782"/>
            <a:ext cx="7408769" cy="6726166"/>
          </a:xfrm>
          <a:custGeom>
            <a:avLst/>
            <a:gdLst/>
            <a:ahLst/>
            <a:cxnLst/>
            <a:rect l="l" t="t" r="r" b="b"/>
            <a:pathLst>
              <a:path w="7408769" h="6726166">
                <a:moveTo>
                  <a:pt x="0" y="0"/>
                </a:moveTo>
                <a:lnTo>
                  <a:pt x="7408769" y="0"/>
                </a:lnTo>
                <a:lnTo>
                  <a:pt x="7408769" y="6726167"/>
                </a:lnTo>
                <a:lnTo>
                  <a:pt x="0" y="672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269" t="-46006" r="-47475" b="-18628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34718" y="2199276"/>
            <a:ext cx="3706569" cy="1712513"/>
            <a:chOff x="0" y="-19050"/>
            <a:chExt cx="4942092" cy="228335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98997"/>
              <a:ext cx="4942092" cy="12653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 dirty="0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Quản </a:t>
              </a:r>
              <a:r>
                <a:rPr lang="en-US" sz="3123" dirty="0" err="1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lý</a:t>
              </a:r>
              <a:r>
                <a:rPr lang="en-US" sz="3123" dirty="0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3123" dirty="0" err="1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nội</a:t>
              </a:r>
              <a:r>
                <a:rPr lang="en-US" sz="3123" dirty="0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dung </a:t>
              </a:r>
              <a:r>
                <a:rPr lang="en-US" sz="3123" dirty="0" err="1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và</a:t>
              </a:r>
              <a:r>
                <a:rPr lang="en-US" sz="3123" dirty="0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3123" dirty="0" err="1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người</a:t>
              </a:r>
              <a:r>
                <a:rPr lang="en-US" sz="3123" dirty="0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3123" dirty="0" err="1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dùng</a:t>
              </a:r>
              <a:endParaRPr lang="en-US" sz="3123" dirty="0">
                <a:solidFill>
                  <a:srgbClr val="333333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1726" y="-19050"/>
              <a:ext cx="3460365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Quản trị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86239" y="2213563"/>
            <a:ext cx="4657812" cy="1695644"/>
            <a:chOff x="0" y="0"/>
            <a:chExt cx="6210416" cy="226085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98998"/>
              <a:ext cx="6210416" cy="12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Cung cấp giới thiệu và điều hướng nhanh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398" y="-19050"/>
              <a:ext cx="3460365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Trang chủ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0257" y="4504138"/>
            <a:ext cx="5356599" cy="1695644"/>
            <a:chOff x="0" y="0"/>
            <a:chExt cx="7142132" cy="226085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98998"/>
              <a:ext cx="7142132" cy="12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Cho phép người dùng tạo </a:t>
              </a:r>
            </a:p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tài khoản và lưu tiến độ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210416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Đăng ký/Đăng nhập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5699" y="4876949"/>
            <a:ext cx="4880629" cy="1285590"/>
            <a:chOff x="0" y="0"/>
            <a:chExt cx="6507505" cy="171412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073582"/>
              <a:ext cx="6507505" cy="640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Theo dõi tiến độ học tập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235" y="-19050"/>
              <a:ext cx="5787331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Kết quả &amp; thống kê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284442" y="7528501"/>
            <a:ext cx="5261405" cy="1729799"/>
            <a:chOff x="0" y="0"/>
            <a:chExt cx="7015207" cy="2306399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044538"/>
              <a:ext cx="7015207" cy="12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Hiển thị nội dung học tập và hình ảnh minh họa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4781" y="-19050"/>
              <a:ext cx="6760426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Học theo bài/chủ đề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24007" y="7528501"/>
            <a:ext cx="5039286" cy="1729799"/>
            <a:chOff x="0" y="0"/>
            <a:chExt cx="6719047" cy="2306399"/>
          </a:xfrm>
        </p:grpSpPr>
        <p:sp>
          <p:nvSpPr>
            <p:cNvPr id="25" name="TextBox 25"/>
            <p:cNvSpPr txBox="1"/>
            <p:nvPr/>
          </p:nvSpPr>
          <p:spPr>
            <a:xfrm>
              <a:off x="0" y="1044538"/>
              <a:ext cx="6719047" cy="12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47"/>
                </a:lnSpc>
              </a:pPr>
              <a:r>
                <a:rPr lang="en-US" sz="3123">
                  <a:solidFill>
                    <a:srgbClr val="333333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Đánh giá kiến thức với chấm điểm tự động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54336" y="-19050"/>
              <a:ext cx="4010375" cy="733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7"/>
                </a:lnSpc>
              </a:pPr>
              <a:r>
                <a:rPr lang="en-US" sz="3539" b="1">
                  <a:solidFill>
                    <a:srgbClr val="333333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Trắc nghiệm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4069" y="1028700"/>
            <a:ext cx="8211700" cy="85998"/>
            <a:chOff x="0" y="0"/>
            <a:chExt cx="2162752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2752" cy="22650"/>
            </a:xfrm>
            <a:custGeom>
              <a:avLst/>
              <a:gdLst/>
              <a:ahLst/>
              <a:cxnLst/>
              <a:rect l="l" t="t" r="r" b="b"/>
              <a:pathLst>
                <a:path w="2162752" h="22650">
                  <a:moveTo>
                    <a:pt x="0" y="0"/>
                  </a:moveTo>
                  <a:lnTo>
                    <a:pt x="2162752" y="0"/>
                  </a:lnTo>
                  <a:lnTo>
                    <a:pt x="2162752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62752" cy="70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3957" y="217414"/>
            <a:ext cx="8231812" cy="807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3"/>
              </a:lnSpc>
            </a:pPr>
            <a:r>
              <a:rPr lang="en-US" sz="4945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PHÂN QUYỀN CHỨC NĂNG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515759" y="1609277"/>
          <a:ext cx="15256483" cy="7531116"/>
        </p:xfrm>
        <a:graphic>
          <a:graphicData uri="http://schemas.openxmlformats.org/drawingml/2006/table">
            <a:tbl>
              <a:tblPr/>
              <a:tblGrid>
                <a:gridCol w="721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7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996">
                <a:tc>
                  <a:txBody>
                    <a:bodyPr/>
                    <a:lstStyle/>
                    <a:p>
                      <a:pPr algn="ctr">
                        <a:lnSpc>
                          <a:spcPts val="3363"/>
                        </a:lnSpc>
                        <a:defRPr/>
                      </a:pPr>
                      <a:r>
                        <a:rPr lang="en-US" sz="2402" b="1" spc="-52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CHỨC NĂNG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r>
                        <a:rPr lang="en-US" sz="2183" b="1" spc="-48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QUẢN TRỊ VIÊN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r>
                        <a:rPr lang="en-US" sz="2183" b="1" spc="-48">
                          <a:solidFill>
                            <a:srgbClr val="403E3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NGƯỜI DÙNG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996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Tài khoản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76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Quản lý tài khoản 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3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Quản lý bài học / nội dung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7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083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Quản lý câu hỏi trắc nghiệm 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37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spc="-6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Làm trắc nghiệm &amp; xem đáp án/điểm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860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Thống kê tiến độ học tập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3356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Thiết lập hệ thống</a:t>
                      </a: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  <a:defRPr/>
                      </a:pPr>
                      <a:endParaRPr lang="en-US" sz="1100"/>
                    </a:p>
                  </a:txBody>
                  <a:tcPr marL="69338" marR="69338" marT="69338" marB="69338" anchor="ctr">
                    <a:lnL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62" cap="flat" cmpd="sng" algn="ctr">
                      <a:solidFill>
                        <a:srgbClr val="40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14477961" y="3590347"/>
            <a:ext cx="717793" cy="731508"/>
          </a:xfrm>
          <a:custGeom>
            <a:avLst/>
            <a:gdLst/>
            <a:ahLst/>
            <a:cxnLst/>
            <a:rect l="l" t="t" r="r" b="b"/>
            <a:pathLst>
              <a:path w="717793" h="731508">
                <a:moveTo>
                  <a:pt x="0" y="0"/>
                </a:moveTo>
                <a:lnTo>
                  <a:pt x="717793" y="0"/>
                </a:lnTo>
                <a:lnTo>
                  <a:pt x="717793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06385" y="2645467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405945" y="2645467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06385" y="3590347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06385" y="4531405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9"/>
                </a:lnTo>
                <a:lnTo>
                  <a:pt x="0" y="73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306385" y="5472464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306385" y="6413522"/>
            <a:ext cx="789809" cy="1672567"/>
            <a:chOff x="0" y="0"/>
            <a:chExt cx="1053079" cy="22300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3079" cy="975344"/>
            </a:xfrm>
            <a:custGeom>
              <a:avLst/>
              <a:gdLst/>
              <a:ahLst/>
              <a:cxnLst/>
              <a:rect l="l" t="t" r="r" b="b"/>
              <a:pathLst>
                <a:path w="1053079" h="975344">
                  <a:moveTo>
                    <a:pt x="0" y="0"/>
                  </a:moveTo>
                  <a:lnTo>
                    <a:pt x="1053079" y="0"/>
                  </a:lnTo>
                  <a:lnTo>
                    <a:pt x="1053079" y="975344"/>
                  </a:lnTo>
                  <a:lnTo>
                    <a:pt x="0" y="975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1254744"/>
              <a:ext cx="1053079" cy="975344"/>
            </a:xfrm>
            <a:custGeom>
              <a:avLst/>
              <a:gdLst/>
              <a:ahLst/>
              <a:cxnLst/>
              <a:rect l="l" t="t" r="r" b="b"/>
              <a:pathLst>
                <a:path w="1053079" h="975344">
                  <a:moveTo>
                    <a:pt x="0" y="0"/>
                  </a:moveTo>
                  <a:lnTo>
                    <a:pt x="1053079" y="0"/>
                  </a:lnTo>
                  <a:lnTo>
                    <a:pt x="1053079" y="975345"/>
                  </a:lnTo>
                  <a:lnTo>
                    <a:pt x="0" y="975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0306385" y="8295639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477961" y="4531405"/>
            <a:ext cx="717793" cy="731508"/>
          </a:xfrm>
          <a:custGeom>
            <a:avLst/>
            <a:gdLst/>
            <a:ahLst/>
            <a:cxnLst/>
            <a:rect l="l" t="t" r="r" b="b"/>
            <a:pathLst>
              <a:path w="717793" h="731508">
                <a:moveTo>
                  <a:pt x="0" y="0"/>
                </a:moveTo>
                <a:lnTo>
                  <a:pt x="717793" y="0"/>
                </a:lnTo>
                <a:lnTo>
                  <a:pt x="717793" y="731509"/>
                </a:lnTo>
                <a:lnTo>
                  <a:pt x="0" y="731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477961" y="5472464"/>
            <a:ext cx="717793" cy="731508"/>
          </a:xfrm>
          <a:custGeom>
            <a:avLst/>
            <a:gdLst/>
            <a:ahLst/>
            <a:cxnLst/>
            <a:rect l="l" t="t" r="r" b="b"/>
            <a:pathLst>
              <a:path w="717793" h="731508">
                <a:moveTo>
                  <a:pt x="0" y="0"/>
                </a:moveTo>
                <a:lnTo>
                  <a:pt x="717793" y="0"/>
                </a:lnTo>
                <a:lnTo>
                  <a:pt x="717793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477961" y="8295639"/>
            <a:ext cx="717793" cy="731508"/>
          </a:xfrm>
          <a:custGeom>
            <a:avLst/>
            <a:gdLst/>
            <a:ahLst/>
            <a:cxnLst/>
            <a:rect l="l" t="t" r="r" b="b"/>
            <a:pathLst>
              <a:path w="717793" h="731508">
                <a:moveTo>
                  <a:pt x="0" y="0"/>
                </a:moveTo>
                <a:lnTo>
                  <a:pt x="717793" y="0"/>
                </a:lnTo>
                <a:lnTo>
                  <a:pt x="717793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477961" y="6413522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8"/>
                </a:lnTo>
                <a:lnTo>
                  <a:pt x="0" y="731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477961" y="7354580"/>
            <a:ext cx="789809" cy="731508"/>
          </a:xfrm>
          <a:custGeom>
            <a:avLst/>
            <a:gdLst/>
            <a:ahLst/>
            <a:cxnLst/>
            <a:rect l="l" t="t" r="r" b="b"/>
            <a:pathLst>
              <a:path w="789809" h="731508">
                <a:moveTo>
                  <a:pt x="0" y="0"/>
                </a:moveTo>
                <a:lnTo>
                  <a:pt x="789809" y="0"/>
                </a:lnTo>
                <a:lnTo>
                  <a:pt x="789809" y="731509"/>
                </a:lnTo>
                <a:lnTo>
                  <a:pt x="0" y="73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26362" y="509415"/>
            <a:ext cx="5170563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latin typeface="Arial" panose="020B0604020202020204" pitchFamily="34" charset="0"/>
                <a:ea typeface="思源宋体" pitchFamily="34" charset="-122"/>
                <a:cs typeface="Arial" panose="020B0604020202020204" pitchFamily="34" charset="0"/>
              </a:rPr>
              <a:t>Thiết kế dữ liệu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26362" y="1324480"/>
            <a:ext cx="5616300" cy="3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8D99AE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Cơ sở dữ liệu MySQL với 11 bảng chính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9415" y="1935777"/>
            <a:ext cx="5616300" cy="5196033"/>
          </a:xfrm>
          <a:custGeom>
            <a:avLst/>
            <a:gdLst/>
            <a:ahLst/>
            <a:cxnLst/>
            <a:rect l="l" t="t" r="r" b="b"/>
            <a:pathLst>
              <a:path w="4992267" h="4618696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4482861"/>
                </a:lnTo>
                <a:cubicBezTo>
                  <a:pt x="4992267" y="4557830"/>
                  <a:pt x="4931401" y="4618696"/>
                  <a:pt x="4856432" y="4618696"/>
                </a:cubicBezTo>
                <a:lnTo>
                  <a:pt x="135836" y="4618696"/>
                </a:lnTo>
                <a:cubicBezTo>
                  <a:pt x="60866" y="4618696"/>
                  <a:pt x="0" y="4557830"/>
                  <a:pt x="0" y="4482861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F7FAFC"/>
          </a:solidFill>
          <a:ln/>
          <a:effectLst>
            <a:outerShdw blurRad="169805" dist="11320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9415" y="1935778"/>
            <a:ext cx="5616300" cy="101883"/>
          </a:xfrm>
          <a:custGeom>
            <a:avLst/>
            <a:gdLst/>
            <a:ahLst/>
            <a:cxnLst/>
            <a:rect l="l" t="t" r="r" b="b"/>
            <a:pathLst>
              <a:path w="4992267" h="90563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90563"/>
                </a:lnTo>
                <a:lnTo>
                  <a:pt x="0" y="90563"/>
                </a:lnTo>
                <a:lnTo>
                  <a:pt x="0" y="90563"/>
                </a:lnTo>
                <a:cubicBezTo>
                  <a:pt x="0" y="40546"/>
                  <a:pt x="40546" y="0"/>
                  <a:pt x="90563" y="0"/>
                </a:cubicBezTo>
                <a:close/>
              </a:path>
            </a:pathLst>
          </a:custGeom>
          <a:solidFill>
            <a:srgbClr val="3A506B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9237" y="2260237"/>
            <a:ext cx="280180" cy="280178"/>
          </a:xfrm>
          <a:custGeom>
            <a:avLst/>
            <a:gdLst/>
            <a:ahLst/>
            <a:cxnLst/>
            <a:rect l="l" t="t" r="r" b="b"/>
            <a:pathLst>
              <a:path w="198106" h="226407">
                <a:moveTo>
                  <a:pt x="169805" y="226407"/>
                </a:moveTo>
                <a:lnTo>
                  <a:pt x="42451" y="226407"/>
                </a:lnTo>
                <a:cubicBezTo>
                  <a:pt x="19015" y="226407"/>
                  <a:pt x="0" y="207392"/>
                  <a:pt x="0" y="183955"/>
                </a:cubicBezTo>
                <a:lnTo>
                  <a:pt x="0" y="42451"/>
                </a:lnTo>
                <a:cubicBezTo>
                  <a:pt x="0" y="19015"/>
                  <a:pt x="19015" y="0"/>
                  <a:pt x="42451" y="0"/>
                </a:cubicBezTo>
                <a:lnTo>
                  <a:pt x="176880" y="0"/>
                </a:lnTo>
                <a:cubicBezTo>
                  <a:pt x="188599" y="0"/>
                  <a:pt x="198106" y="9507"/>
                  <a:pt x="198106" y="21226"/>
                </a:cubicBezTo>
                <a:lnTo>
                  <a:pt x="198106" y="148579"/>
                </a:lnTo>
                <a:cubicBezTo>
                  <a:pt x="198106" y="157821"/>
                  <a:pt x="192180" y="165693"/>
                  <a:pt x="183955" y="168611"/>
                </a:cubicBezTo>
                <a:lnTo>
                  <a:pt x="183955" y="198106"/>
                </a:lnTo>
                <a:cubicBezTo>
                  <a:pt x="191782" y="198106"/>
                  <a:pt x="198106" y="204429"/>
                  <a:pt x="198106" y="212256"/>
                </a:cubicBezTo>
                <a:cubicBezTo>
                  <a:pt x="198106" y="220083"/>
                  <a:pt x="191782" y="226407"/>
                  <a:pt x="183955" y="226407"/>
                </a:cubicBezTo>
                <a:lnTo>
                  <a:pt x="169805" y="226407"/>
                </a:lnTo>
                <a:close/>
                <a:moveTo>
                  <a:pt x="42451" y="169805"/>
                </a:moveTo>
                <a:cubicBezTo>
                  <a:pt x="34624" y="169805"/>
                  <a:pt x="28301" y="176128"/>
                  <a:pt x="28301" y="183955"/>
                </a:cubicBezTo>
                <a:cubicBezTo>
                  <a:pt x="28301" y="191782"/>
                  <a:pt x="34624" y="198106"/>
                  <a:pt x="42451" y="198106"/>
                </a:cubicBezTo>
                <a:lnTo>
                  <a:pt x="155655" y="198106"/>
                </a:lnTo>
                <a:lnTo>
                  <a:pt x="155655" y="169805"/>
                </a:lnTo>
                <a:lnTo>
                  <a:pt x="42451" y="169805"/>
                </a:lnTo>
                <a:close/>
                <a:moveTo>
                  <a:pt x="56602" y="67214"/>
                </a:moveTo>
                <a:cubicBezTo>
                  <a:pt x="56602" y="73096"/>
                  <a:pt x="61333" y="77827"/>
                  <a:pt x="67214" y="77827"/>
                </a:cubicBezTo>
                <a:lnTo>
                  <a:pt x="145042" y="77827"/>
                </a:lnTo>
                <a:cubicBezTo>
                  <a:pt x="150923" y="77827"/>
                  <a:pt x="155655" y="73096"/>
                  <a:pt x="155655" y="67214"/>
                </a:cubicBezTo>
                <a:cubicBezTo>
                  <a:pt x="155655" y="61333"/>
                  <a:pt x="150923" y="56602"/>
                  <a:pt x="145042" y="56602"/>
                </a:cubicBezTo>
                <a:lnTo>
                  <a:pt x="67214" y="56602"/>
                </a:lnTo>
                <a:cubicBezTo>
                  <a:pt x="61333" y="56602"/>
                  <a:pt x="56602" y="61333"/>
                  <a:pt x="56602" y="67214"/>
                </a:cubicBezTo>
                <a:close/>
                <a:moveTo>
                  <a:pt x="67214" y="99053"/>
                </a:moveTo>
                <a:cubicBezTo>
                  <a:pt x="61333" y="99053"/>
                  <a:pt x="56602" y="103784"/>
                  <a:pt x="56602" y="109666"/>
                </a:cubicBezTo>
                <a:cubicBezTo>
                  <a:pt x="56602" y="115547"/>
                  <a:pt x="61333" y="120279"/>
                  <a:pt x="67214" y="120279"/>
                </a:cubicBezTo>
                <a:lnTo>
                  <a:pt x="145042" y="120279"/>
                </a:lnTo>
                <a:cubicBezTo>
                  <a:pt x="150923" y="120279"/>
                  <a:pt x="155655" y="115547"/>
                  <a:pt x="155655" y="109666"/>
                </a:cubicBezTo>
                <a:cubicBezTo>
                  <a:pt x="155655" y="103784"/>
                  <a:pt x="150923" y="99053"/>
                  <a:pt x="145042" y="99053"/>
                </a:cubicBezTo>
                <a:lnTo>
                  <a:pt x="67214" y="99053"/>
                </a:lnTo>
                <a:close/>
              </a:path>
            </a:pathLst>
          </a:custGeom>
          <a:solidFill>
            <a:srgbClr val="3A506B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1565" y="2190485"/>
            <a:ext cx="5017739" cy="3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思源宋体" pitchFamily="34" charset="-122"/>
                <a:cs typeface="Arial" panose="020B0604020202020204" pitchFamily="34" charset="0"/>
              </a:rPr>
              <a:t>Bảng nội dung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182" y="2699900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5065" y="2735947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books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5064" y="3107433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Sách lịch sử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3182" y="3565906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5064" y="3591376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topics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5064" y="3973438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Chủ đề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182" y="4431910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5064" y="4464896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lessons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5064" y="4839443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Bài học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3182" y="5297916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5064" y="5344553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items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5064" y="5705449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Tiểu mục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3182" y="6163922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3A506B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5064" y="6189393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subitems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5064" y="6571454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Nội dung chi tiết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5532" y="1935777"/>
            <a:ext cx="5616300" cy="5196033"/>
          </a:xfrm>
          <a:custGeom>
            <a:avLst/>
            <a:gdLst/>
            <a:ahLst/>
            <a:cxnLst/>
            <a:rect l="l" t="t" r="r" b="b"/>
            <a:pathLst>
              <a:path w="4992267" h="4618696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4482861"/>
                </a:lnTo>
                <a:cubicBezTo>
                  <a:pt x="4992267" y="4557830"/>
                  <a:pt x="4931401" y="4618696"/>
                  <a:pt x="4856432" y="4618696"/>
                </a:cubicBezTo>
                <a:lnTo>
                  <a:pt x="135836" y="4618696"/>
                </a:lnTo>
                <a:cubicBezTo>
                  <a:pt x="60866" y="4618696"/>
                  <a:pt x="0" y="4557830"/>
                  <a:pt x="0" y="4482861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F7FAFC"/>
          </a:solidFill>
          <a:ln/>
          <a:effectLst>
            <a:outerShdw blurRad="169805" dist="11320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5532" y="1935778"/>
            <a:ext cx="5616300" cy="101883"/>
          </a:xfrm>
          <a:custGeom>
            <a:avLst/>
            <a:gdLst/>
            <a:ahLst/>
            <a:cxnLst/>
            <a:rect l="l" t="t" r="r" b="b"/>
            <a:pathLst>
              <a:path w="4992267" h="90563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90563"/>
                </a:lnTo>
                <a:lnTo>
                  <a:pt x="0" y="90563"/>
                </a:lnTo>
                <a:lnTo>
                  <a:pt x="0" y="90563"/>
                </a:lnTo>
                <a:cubicBezTo>
                  <a:pt x="0" y="40546"/>
                  <a:pt x="40546" y="0"/>
                  <a:pt x="90563" y="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9299" y="2241427"/>
            <a:ext cx="286547" cy="298988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113203" y="226407"/>
                </a:moveTo>
                <a:cubicBezTo>
                  <a:pt x="175682" y="226407"/>
                  <a:pt x="226407" y="175682"/>
                  <a:pt x="226407" y="113203"/>
                </a:cubicBezTo>
                <a:cubicBezTo>
                  <a:pt x="226407" y="50725"/>
                  <a:pt x="175682" y="0"/>
                  <a:pt x="113203" y="0"/>
                </a:cubicBezTo>
                <a:cubicBezTo>
                  <a:pt x="50725" y="0"/>
                  <a:pt x="0" y="50725"/>
                  <a:pt x="0" y="113203"/>
                </a:cubicBezTo>
                <a:cubicBezTo>
                  <a:pt x="0" y="175682"/>
                  <a:pt x="50725" y="226407"/>
                  <a:pt x="113203" y="226407"/>
                </a:cubicBezTo>
                <a:close/>
                <a:moveTo>
                  <a:pt x="113203" y="77827"/>
                </a:moveTo>
                <a:cubicBezTo>
                  <a:pt x="105376" y="77827"/>
                  <a:pt x="99053" y="84151"/>
                  <a:pt x="99053" y="91978"/>
                </a:cubicBezTo>
                <a:cubicBezTo>
                  <a:pt x="99053" y="97859"/>
                  <a:pt x="94321" y="102591"/>
                  <a:pt x="88440" y="102591"/>
                </a:cubicBezTo>
                <a:cubicBezTo>
                  <a:pt x="82559" y="102591"/>
                  <a:pt x="77827" y="97859"/>
                  <a:pt x="77827" y="91978"/>
                </a:cubicBezTo>
                <a:cubicBezTo>
                  <a:pt x="77827" y="72432"/>
                  <a:pt x="93658" y="56602"/>
                  <a:pt x="113203" y="56602"/>
                </a:cubicBezTo>
                <a:cubicBezTo>
                  <a:pt x="132749" y="56602"/>
                  <a:pt x="148579" y="72432"/>
                  <a:pt x="148579" y="91978"/>
                </a:cubicBezTo>
                <a:cubicBezTo>
                  <a:pt x="148579" y="112850"/>
                  <a:pt x="132660" y="121694"/>
                  <a:pt x="123816" y="124922"/>
                </a:cubicBezTo>
                <a:lnTo>
                  <a:pt x="123816" y="126602"/>
                </a:lnTo>
                <a:cubicBezTo>
                  <a:pt x="123816" y="132483"/>
                  <a:pt x="119085" y="137215"/>
                  <a:pt x="113203" y="137215"/>
                </a:cubicBezTo>
                <a:cubicBezTo>
                  <a:pt x="107322" y="137215"/>
                  <a:pt x="102591" y="132483"/>
                  <a:pt x="102591" y="126602"/>
                </a:cubicBezTo>
                <a:lnTo>
                  <a:pt x="102591" y="123020"/>
                </a:lnTo>
                <a:cubicBezTo>
                  <a:pt x="102591" y="113955"/>
                  <a:pt x="109135" y="107455"/>
                  <a:pt x="115901" y="105244"/>
                </a:cubicBezTo>
                <a:cubicBezTo>
                  <a:pt x="118731" y="104315"/>
                  <a:pt x="121738" y="102812"/>
                  <a:pt x="123949" y="100689"/>
                </a:cubicBezTo>
                <a:cubicBezTo>
                  <a:pt x="125850" y="98832"/>
                  <a:pt x="127354" y="96267"/>
                  <a:pt x="127354" y="92022"/>
                </a:cubicBezTo>
                <a:cubicBezTo>
                  <a:pt x="127354" y="84195"/>
                  <a:pt x="121030" y="77872"/>
                  <a:pt x="113203" y="77872"/>
                </a:cubicBezTo>
                <a:close/>
                <a:moveTo>
                  <a:pt x="99053" y="162730"/>
                </a:moveTo>
                <a:cubicBezTo>
                  <a:pt x="99053" y="154920"/>
                  <a:pt x="105394" y="148579"/>
                  <a:pt x="113203" y="148579"/>
                </a:cubicBezTo>
                <a:cubicBezTo>
                  <a:pt x="121013" y="148579"/>
                  <a:pt x="127354" y="154920"/>
                  <a:pt x="127354" y="162730"/>
                </a:cubicBezTo>
                <a:cubicBezTo>
                  <a:pt x="127354" y="170540"/>
                  <a:pt x="121013" y="176880"/>
                  <a:pt x="113203" y="176880"/>
                </a:cubicBezTo>
                <a:cubicBezTo>
                  <a:pt x="105394" y="176880"/>
                  <a:pt x="99053" y="170540"/>
                  <a:pt x="99053" y="16273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7681" y="2190485"/>
            <a:ext cx="5017739" cy="3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思源宋体" pitchFamily="34" charset="-122"/>
                <a:cs typeface="Arial" panose="020B0604020202020204" pitchFamily="34" charset="0"/>
              </a:rPr>
              <a:t>Bảng câu hỏi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39298" y="2699900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41182" y="2732520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questions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41181" y="3141659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Câu hỏi trắc nghiệm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39298" y="3565906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41182" y="3598525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options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41181" y="3973438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Đáp án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39298" y="4431910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641182" y="4464531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quiz_results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41181" y="4839443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Kết quả làm bài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2161648" y="1935777"/>
            <a:ext cx="5616300" cy="5196033"/>
          </a:xfrm>
          <a:custGeom>
            <a:avLst/>
            <a:gdLst/>
            <a:ahLst/>
            <a:cxnLst/>
            <a:rect l="l" t="t" r="r" b="b"/>
            <a:pathLst>
              <a:path w="4992267" h="4618696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4482861"/>
                </a:lnTo>
                <a:cubicBezTo>
                  <a:pt x="4992267" y="4557830"/>
                  <a:pt x="4931401" y="4618696"/>
                  <a:pt x="4856432" y="4618696"/>
                </a:cubicBezTo>
                <a:lnTo>
                  <a:pt x="135836" y="4618696"/>
                </a:lnTo>
                <a:cubicBezTo>
                  <a:pt x="60866" y="4618696"/>
                  <a:pt x="0" y="4557830"/>
                  <a:pt x="0" y="4482861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F7FAFC"/>
          </a:solidFill>
          <a:ln/>
          <a:effectLst>
            <a:outerShdw blurRad="169805" dist="11320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161648" y="1935778"/>
            <a:ext cx="5616300" cy="101883"/>
          </a:xfrm>
          <a:custGeom>
            <a:avLst/>
            <a:gdLst/>
            <a:ahLst/>
            <a:cxnLst/>
            <a:rect l="l" t="t" r="r" b="b"/>
            <a:pathLst>
              <a:path w="4992267" h="90563">
                <a:moveTo>
                  <a:pt x="90563" y="0"/>
                </a:moveTo>
                <a:lnTo>
                  <a:pt x="4901705" y="0"/>
                </a:lnTo>
                <a:cubicBezTo>
                  <a:pt x="4951721" y="0"/>
                  <a:pt x="4992267" y="40546"/>
                  <a:pt x="4992267" y="90563"/>
                </a:cubicBezTo>
                <a:lnTo>
                  <a:pt x="4992267" y="90563"/>
                </a:lnTo>
                <a:lnTo>
                  <a:pt x="0" y="90563"/>
                </a:lnTo>
                <a:lnTo>
                  <a:pt x="0" y="90563"/>
                </a:lnTo>
                <a:cubicBezTo>
                  <a:pt x="0" y="40546"/>
                  <a:pt x="40546" y="0"/>
                  <a:pt x="90563" y="0"/>
                </a:cubicBezTo>
                <a:close/>
              </a:path>
            </a:pathLst>
          </a:custGeom>
          <a:solidFill>
            <a:srgbClr val="BC945C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317815" y="2241427"/>
            <a:ext cx="365983" cy="305648"/>
          </a:xfrm>
          <a:custGeom>
            <a:avLst/>
            <a:gdLst/>
            <a:ahLst/>
            <a:cxnLst/>
            <a:rect l="l" t="t" r="r" b="b"/>
            <a:pathLst>
              <a:path w="283008" h="226407">
                <a:moveTo>
                  <a:pt x="141504" y="7075"/>
                </a:moveTo>
                <a:cubicBezTo>
                  <a:pt x="166886" y="7075"/>
                  <a:pt x="187493" y="27682"/>
                  <a:pt x="187493" y="53064"/>
                </a:cubicBezTo>
                <a:cubicBezTo>
                  <a:pt x="187493" y="78446"/>
                  <a:pt x="166886" y="99053"/>
                  <a:pt x="141504" y="99053"/>
                </a:cubicBezTo>
                <a:cubicBezTo>
                  <a:pt x="116122" y="99053"/>
                  <a:pt x="95515" y="78446"/>
                  <a:pt x="95515" y="53064"/>
                </a:cubicBezTo>
                <a:cubicBezTo>
                  <a:pt x="95515" y="27682"/>
                  <a:pt x="116122" y="7075"/>
                  <a:pt x="141504" y="7075"/>
                </a:cubicBezTo>
                <a:close/>
                <a:moveTo>
                  <a:pt x="42451" y="38914"/>
                </a:moveTo>
                <a:cubicBezTo>
                  <a:pt x="60023" y="38914"/>
                  <a:pt x="74290" y="53180"/>
                  <a:pt x="74290" y="70752"/>
                </a:cubicBezTo>
                <a:cubicBezTo>
                  <a:pt x="74290" y="88324"/>
                  <a:pt x="60023" y="102591"/>
                  <a:pt x="42451" y="102591"/>
                </a:cubicBezTo>
                <a:cubicBezTo>
                  <a:pt x="24879" y="102591"/>
                  <a:pt x="10613" y="88324"/>
                  <a:pt x="10613" y="70752"/>
                </a:cubicBezTo>
                <a:cubicBezTo>
                  <a:pt x="10613" y="53180"/>
                  <a:pt x="24879" y="38914"/>
                  <a:pt x="42451" y="38914"/>
                </a:cubicBezTo>
                <a:close/>
                <a:moveTo>
                  <a:pt x="0" y="183955"/>
                </a:moveTo>
                <a:cubicBezTo>
                  <a:pt x="0" y="152692"/>
                  <a:pt x="25338" y="127354"/>
                  <a:pt x="56602" y="127354"/>
                </a:cubicBezTo>
                <a:cubicBezTo>
                  <a:pt x="62262" y="127354"/>
                  <a:pt x="67745" y="128194"/>
                  <a:pt x="72919" y="129742"/>
                </a:cubicBezTo>
                <a:cubicBezTo>
                  <a:pt x="58370" y="146015"/>
                  <a:pt x="49526" y="167506"/>
                  <a:pt x="49526" y="191031"/>
                </a:cubicBezTo>
                <a:lnTo>
                  <a:pt x="49526" y="198106"/>
                </a:lnTo>
                <a:cubicBezTo>
                  <a:pt x="49526" y="203147"/>
                  <a:pt x="50588" y="207923"/>
                  <a:pt x="52489" y="212256"/>
                </a:cubicBezTo>
                <a:lnTo>
                  <a:pt x="14150" y="212256"/>
                </a:lnTo>
                <a:cubicBezTo>
                  <a:pt x="6323" y="212256"/>
                  <a:pt x="0" y="205933"/>
                  <a:pt x="0" y="198106"/>
                </a:cubicBezTo>
                <a:lnTo>
                  <a:pt x="0" y="183955"/>
                </a:lnTo>
                <a:close/>
                <a:moveTo>
                  <a:pt x="230519" y="212256"/>
                </a:moveTo>
                <a:cubicBezTo>
                  <a:pt x="232421" y="207923"/>
                  <a:pt x="233482" y="203147"/>
                  <a:pt x="233482" y="198106"/>
                </a:cubicBezTo>
                <a:lnTo>
                  <a:pt x="233482" y="191031"/>
                </a:lnTo>
                <a:cubicBezTo>
                  <a:pt x="233482" y="167506"/>
                  <a:pt x="224638" y="146015"/>
                  <a:pt x="210089" y="129742"/>
                </a:cubicBezTo>
                <a:cubicBezTo>
                  <a:pt x="215263" y="128194"/>
                  <a:pt x="220747" y="127354"/>
                  <a:pt x="226407" y="127354"/>
                </a:cubicBezTo>
                <a:cubicBezTo>
                  <a:pt x="257670" y="127354"/>
                  <a:pt x="283008" y="152692"/>
                  <a:pt x="283008" y="183955"/>
                </a:cubicBezTo>
                <a:lnTo>
                  <a:pt x="283008" y="198106"/>
                </a:lnTo>
                <a:cubicBezTo>
                  <a:pt x="283008" y="205933"/>
                  <a:pt x="276685" y="212256"/>
                  <a:pt x="268858" y="212256"/>
                </a:cubicBezTo>
                <a:lnTo>
                  <a:pt x="230519" y="212256"/>
                </a:lnTo>
                <a:close/>
                <a:moveTo>
                  <a:pt x="208719" y="70752"/>
                </a:moveTo>
                <a:cubicBezTo>
                  <a:pt x="208719" y="53180"/>
                  <a:pt x="222985" y="38914"/>
                  <a:pt x="240557" y="38914"/>
                </a:cubicBezTo>
                <a:cubicBezTo>
                  <a:pt x="258129" y="38914"/>
                  <a:pt x="272396" y="53180"/>
                  <a:pt x="272396" y="70752"/>
                </a:cubicBezTo>
                <a:cubicBezTo>
                  <a:pt x="272396" y="88324"/>
                  <a:pt x="258129" y="102591"/>
                  <a:pt x="240557" y="102591"/>
                </a:cubicBezTo>
                <a:cubicBezTo>
                  <a:pt x="222985" y="102591"/>
                  <a:pt x="208719" y="88324"/>
                  <a:pt x="208719" y="70752"/>
                </a:cubicBezTo>
                <a:close/>
                <a:moveTo>
                  <a:pt x="70752" y="191031"/>
                </a:moveTo>
                <a:cubicBezTo>
                  <a:pt x="70752" y="151940"/>
                  <a:pt x="102414" y="120279"/>
                  <a:pt x="141504" y="120279"/>
                </a:cubicBezTo>
                <a:cubicBezTo>
                  <a:pt x="180595" y="120279"/>
                  <a:pt x="212256" y="151940"/>
                  <a:pt x="212256" y="191031"/>
                </a:cubicBezTo>
                <a:lnTo>
                  <a:pt x="212256" y="198106"/>
                </a:lnTo>
                <a:cubicBezTo>
                  <a:pt x="212256" y="205933"/>
                  <a:pt x="205933" y="212256"/>
                  <a:pt x="198106" y="212256"/>
                </a:cubicBezTo>
                <a:lnTo>
                  <a:pt x="84903" y="212256"/>
                </a:lnTo>
                <a:cubicBezTo>
                  <a:pt x="77076" y="212256"/>
                  <a:pt x="70752" y="205933"/>
                  <a:pt x="70752" y="198106"/>
                </a:cubicBezTo>
                <a:lnTo>
                  <a:pt x="70752" y="191031"/>
                </a:lnTo>
                <a:close/>
              </a:path>
            </a:pathLst>
          </a:custGeom>
          <a:solidFill>
            <a:srgbClr val="BC945C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683798" y="2190485"/>
            <a:ext cx="5017739" cy="3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思源宋体" pitchFamily="34" charset="-122"/>
                <a:cs typeface="Arial" panose="020B0604020202020204" pitchFamily="34" charset="0"/>
              </a:rPr>
              <a:t>Bảng người dùng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365415" y="2699900"/>
            <a:ext cx="5208769" cy="764123"/>
          </a:xfrm>
          <a:custGeom>
            <a:avLst/>
            <a:gdLst/>
            <a:ahLst/>
            <a:cxnLst/>
            <a:rect l="l" t="t" r="r" b="b"/>
            <a:pathLst>
              <a:path w="4630017" h="679220">
                <a:moveTo>
                  <a:pt x="90560" y="0"/>
                </a:moveTo>
                <a:lnTo>
                  <a:pt x="4539456" y="0"/>
                </a:lnTo>
                <a:cubicBezTo>
                  <a:pt x="4589471" y="0"/>
                  <a:pt x="4630017" y="40545"/>
                  <a:pt x="4630017" y="90560"/>
                </a:cubicBezTo>
                <a:lnTo>
                  <a:pt x="4630017" y="588660"/>
                </a:lnTo>
                <a:cubicBezTo>
                  <a:pt x="4630017" y="638675"/>
                  <a:pt x="4589471" y="679220"/>
                  <a:pt x="4539456" y="679220"/>
                </a:cubicBezTo>
                <a:lnTo>
                  <a:pt x="90560" y="679220"/>
                </a:lnTo>
                <a:cubicBezTo>
                  <a:pt x="40545" y="679220"/>
                  <a:pt x="0" y="638675"/>
                  <a:pt x="0" y="588660"/>
                </a:cubicBezTo>
                <a:lnTo>
                  <a:pt x="0" y="90560"/>
                </a:lnTo>
                <a:cubicBezTo>
                  <a:pt x="0" y="40579"/>
                  <a:pt x="40579" y="0"/>
                  <a:pt x="90560" y="0"/>
                </a:cubicBezTo>
                <a:close/>
              </a:path>
            </a:pathLst>
          </a:custGeom>
          <a:solidFill>
            <a:srgbClr val="BC945C">
              <a:alpha val="10196"/>
            </a:srgbClr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473666" y="2732520"/>
            <a:ext cx="5106886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75" b="1" dirty="0">
                <a:solidFill>
                  <a:srgbClr val="3A506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users</a:t>
            </a:r>
            <a:endParaRPr lang="en-US" sz="24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2467296" y="3107433"/>
            <a:ext cx="5094151" cy="25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250" dirty="0">
                <a:solidFill>
                  <a:srgbClr val="2D3748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Thông tin tài khoản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1E123C-3458-43BB-FCB0-790EEAA14EEE}"/>
              </a:ext>
            </a:extLst>
          </p:cNvPr>
          <p:cNvGrpSpPr/>
          <p:nvPr/>
        </p:nvGrpSpPr>
        <p:grpSpPr>
          <a:xfrm>
            <a:off x="12359045" y="3591376"/>
            <a:ext cx="5215138" cy="764123"/>
            <a:chOff x="10991479" y="3939476"/>
            <a:chExt cx="4635678" cy="679220"/>
          </a:xfrm>
        </p:grpSpPr>
        <p:sp>
          <p:nvSpPr>
            <p:cNvPr id="52" name="Shape 50"/>
            <p:cNvSpPr/>
            <p:nvPr/>
          </p:nvSpPr>
          <p:spPr>
            <a:xfrm>
              <a:off x="10991479" y="3939476"/>
              <a:ext cx="4630017" cy="679220"/>
            </a:xfrm>
            <a:custGeom>
              <a:avLst/>
              <a:gdLst/>
              <a:ahLst/>
              <a:cxnLst/>
              <a:rect l="l" t="t" r="r" b="b"/>
              <a:pathLst>
                <a:path w="4630017" h="679220">
                  <a:moveTo>
                    <a:pt x="90560" y="0"/>
                  </a:moveTo>
                  <a:lnTo>
                    <a:pt x="4539456" y="0"/>
                  </a:lnTo>
                  <a:cubicBezTo>
                    <a:pt x="4589471" y="0"/>
                    <a:pt x="4630017" y="40545"/>
                    <a:pt x="4630017" y="90560"/>
                  </a:cubicBezTo>
                  <a:lnTo>
                    <a:pt x="4630017" y="588660"/>
                  </a:lnTo>
                  <a:cubicBezTo>
                    <a:pt x="4630017" y="638675"/>
                    <a:pt x="4589471" y="679220"/>
                    <a:pt x="4539456" y="679220"/>
                  </a:cubicBezTo>
                  <a:lnTo>
                    <a:pt x="90560" y="679220"/>
                  </a:lnTo>
                  <a:cubicBezTo>
                    <a:pt x="40545" y="679220"/>
                    <a:pt x="0" y="638675"/>
                    <a:pt x="0" y="588660"/>
                  </a:cubicBezTo>
                  <a:lnTo>
                    <a:pt x="0" y="90560"/>
                  </a:lnTo>
                  <a:cubicBezTo>
                    <a:pt x="0" y="40579"/>
                    <a:pt x="40579" y="0"/>
                    <a:pt x="90560" y="0"/>
                  </a:cubicBezTo>
                  <a:close/>
                </a:path>
              </a:pathLst>
            </a:custGeom>
            <a:solidFill>
              <a:srgbClr val="BC945C">
                <a:alpha val="10196"/>
              </a:srgbClr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11087703" y="3968472"/>
              <a:ext cx="4539454" cy="2716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475" b="1" dirty="0">
                  <a:solidFill>
                    <a:srgbClr val="3A506B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admin</a:t>
              </a:r>
              <a:endParaRPr lang="en-US" sz="247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11082041" y="4301727"/>
              <a:ext cx="4528134" cy="2264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2250" dirty="0">
                  <a:solidFill>
                    <a:srgbClr val="2D3748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Quản trị viên</a:t>
              </a:r>
              <a:endParaRPr lang="en-US"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5" name="Shape 53"/>
          <p:cNvSpPr/>
          <p:nvPr/>
        </p:nvSpPr>
        <p:spPr>
          <a:xfrm>
            <a:off x="537591" y="7335577"/>
            <a:ext cx="17240357" cy="2837123"/>
          </a:xfrm>
          <a:custGeom>
            <a:avLst/>
            <a:gdLst/>
            <a:ahLst/>
            <a:cxnLst/>
            <a:rect l="l" t="t" r="r" b="b"/>
            <a:pathLst>
              <a:path w="7584624" h="2173504">
                <a:moveTo>
                  <a:pt x="135844" y="0"/>
                </a:moveTo>
                <a:lnTo>
                  <a:pt x="7448780" y="0"/>
                </a:lnTo>
                <a:cubicBezTo>
                  <a:pt x="7523805" y="0"/>
                  <a:pt x="7584624" y="60819"/>
                  <a:pt x="7584624" y="135844"/>
                </a:cubicBezTo>
                <a:lnTo>
                  <a:pt x="7584624" y="2037660"/>
                </a:lnTo>
                <a:cubicBezTo>
                  <a:pt x="7584624" y="2112685"/>
                  <a:pt x="7523805" y="2173504"/>
                  <a:pt x="7448780" y="2173504"/>
                </a:cubicBezTo>
                <a:lnTo>
                  <a:pt x="135844" y="2173504"/>
                </a:lnTo>
                <a:cubicBezTo>
                  <a:pt x="60819" y="2173504"/>
                  <a:pt x="0" y="2112685"/>
                  <a:pt x="0" y="2037660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3A506B"/>
          </a:solidFill>
          <a:ln/>
          <a:effectLst>
            <a:outerShdw blurRad="169805" dist="11320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vi-VN" sz="20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59272" y="7401951"/>
            <a:ext cx="7934139" cy="35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F7FAFC"/>
                </a:solidFill>
                <a:latin typeface="Arial" panose="020B0604020202020204" pitchFamily="34" charset="0"/>
                <a:ea typeface="思源宋体" pitchFamily="34" charset="-122"/>
                <a:cs typeface="Arial" panose="020B0604020202020204" pitchFamily="34" charset="0"/>
              </a:rPr>
              <a:t>Ràng buộc khóa ngoại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9579710" y="8507231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129901" y="145926"/>
                </a:moveTo>
                <a:lnTo>
                  <a:pt x="35199" y="51225"/>
                </a:lnTo>
                <a:cubicBezTo>
                  <a:pt x="27275" y="62333"/>
                  <a:pt x="22641" y="75917"/>
                  <a:pt x="22641" y="90563"/>
                </a:cubicBezTo>
                <a:cubicBezTo>
                  <a:pt x="22641" y="128061"/>
                  <a:pt x="53064" y="158485"/>
                  <a:pt x="90563" y="158485"/>
                </a:cubicBezTo>
                <a:cubicBezTo>
                  <a:pt x="105244" y="158485"/>
                  <a:pt x="118828" y="153850"/>
                  <a:pt x="129901" y="145926"/>
                </a:cubicBezTo>
                <a:close/>
                <a:moveTo>
                  <a:pt x="145926" y="129901"/>
                </a:moveTo>
                <a:cubicBezTo>
                  <a:pt x="153850" y="118793"/>
                  <a:pt x="158485" y="105208"/>
                  <a:pt x="158485" y="90563"/>
                </a:cubicBezTo>
                <a:cubicBezTo>
                  <a:pt x="158485" y="53064"/>
                  <a:pt x="128061" y="22641"/>
                  <a:pt x="90563" y="22641"/>
                </a:cubicBezTo>
                <a:cubicBezTo>
                  <a:pt x="75882" y="22641"/>
                  <a:pt x="62297" y="27275"/>
                  <a:pt x="51225" y="35199"/>
                </a:cubicBezTo>
                <a:lnTo>
                  <a:pt x="145926" y="129901"/>
                </a:lnTo>
                <a:close/>
                <a:moveTo>
                  <a:pt x="0" y="90563"/>
                </a:moveTo>
                <a:cubicBezTo>
                  <a:pt x="0" y="40580"/>
                  <a:pt x="40580" y="0"/>
                  <a:pt x="90563" y="0"/>
                </a:cubicBezTo>
                <a:cubicBezTo>
                  <a:pt x="140546" y="0"/>
                  <a:pt x="181125" y="40580"/>
                  <a:pt x="181125" y="90563"/>
                </a:cubicBezTo>
                <a:cubicBezTo>
                  <a:pt x="181125" y="140546"/>
                  <a:pt x="140546" y="181125"/>
                  <a:pt x="90563" y="181125"/>
                </a:cubicBezTo>
                <a:cubicBezTo>
                  <a:pt x="40580" y="181125"/>
                  <a:pt x="0" y="140546"/>
                  <a:pt x="0" y="90563"/>
                </a:cubicBezTo>
                <a:close/>
              </a:path>
            </a:pathLst>
          </a:custGeom>
          <a:solidFill>
            <a:srgbClr val="3A506B"/>
          </a:solidFill>
          <a:ln/>
        </p:spPr>
        <p:txBody>
          <a:bodyPr/>
          <a:lstStyle/>
          <a:p>
            <a:endParaRPr sz="202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57">
            <a:extLst>
              <a:ext uri="{FF2B5EF4-FFF2-40B4-BE49-F238E27FC236}">
                <a16:creationId xmlns:a16="http://schemas.microsoft.com/office/drawing/2014/main" id="{8F50352E-198D-812A-BD1E-9557668982D7}"/>
              </a:ext>
            </a:extLst>
          </p:cNvPr>
          <p:cNvSpPr/>
          <p:nvPr/>
        </p:nvSpPr>
        <p:spPr>
          <a:xfrm>
            <a:off x="6335532" y="9511936"/>
            <a:ext cx="6728789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 err="1">
                <a:solidFill>
                  <a:srgbClr val="F7FAFC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difficulty_levels</a:t>
            </a:r>
            <a:r>
              <a:rPr lang="en-US" sz="2600" b="1" dirty="0">
                <a:solidFill>
                  <a:srgbClr val="F7FAFC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 → questions : 1–n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57">
            <a:extLst>
              <a:ext uri="{FF2B5EF4-FFF2-40B4-BE49-F238E27FC236}">
                <a16:creationId xmlns:a16="http://schemas.microsoft.com/office/drawing/2014/main" id="{F12AFD81-0A70-0A87-43F2-B767F4F52909}"/>
              </a:ext>
            </a:extLst>
          </p:cNvPr>
          <p:cNvSpPr/>
          <p:nvPr/>
        </p:nvSpPr>
        <p:spPr>
          <a:xfrm>
            <a:off x="12161648" y="8507232"/>
            <a:ext cx="6337582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pt-BR" sz="2600" b="1" dirty="0">
                <a:solidFill>
                  <a:srgbClr val="F7FAFC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lessons → quiz_results : 1–n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61E5DF74-3CE0-8F01-B8E0-6B6663442B90}"/>
              </a:ext>
            </a:extLst>
          </p:cNvPr>
          <p:cNvSpPr/>
          <p:nvPr/>
        </p:nvSpPr>
        <p:spPr>
          <a:xfrm>
            <a:off x="1426363" y="1075043"/>
            <a:ext cx="4699351" cy="85998"/>
          </a:xfrm>
          <a:custGeom>
            <a:avLst/>
            <a:gdLst/>
            <a:ahLst/>
            <a:cxnLst/>
            <a:rect l="l" t="t" r="r" b="b"/>
            <a:pathLst>
              <a:path w="3725645" h="22650">
                <a:moveTo>
                  <a:pt x="0" y="0"/>
                </a:moveTo>
                <a:lnTo>
                  <a:pt x="3725645" y="0"/>
                </a:lnTo>
                <a:lnTo>
                  <a:pt x="3725645" y="22650"/>
                </a:lnTo>
                <a:lnTo>
                  <a:pt x="0" y="22650"/>
                </a:lnTo>
                <a:close/>
              </a:path>
            </a:pathLst>
          </a:custGeom>
          <a:solidFill>
            <a:srgbClr val="ACA18F"/>
          </a:solidFill>
        </p:spPr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42F82B6-22CE-3D75-8B09-2093515E3E05}"/>
              </a:ext>
            </a:extLst>
          </p:cNvPr>
          <p:cNvGrpSpPr/>
          <p:nvPr/>
        </p:nvGrpSpPr>
        <p:grpSpPr>
          <a:xfrm>
            <a:off x="1031565" y="8045503"/>
            <a:ext cx="3782618" cy="333608"/>
            <a:chOff x="2500598" y="8074860"/>
            <a:chExt cx="3782618" cy="333608"/>
          </a:xfrm>
        </p:grpSpPr>
        <p:sp>
          <p:nvSpPr>
            <p:cNvPr id="59" name="Text 57"/>
            <p:cNvSpPr/>
            <p:nvPr/>
          </p:nvSpPr>
          <p:spPr>
            <a:xfrm>
              <a:off x="2959072" y="8077611"/>
              <a:ext cx="3324144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books → topics:</a:t>
              </a:r>
              <a:r>
                <a:rPr lang="en-US" sz="2600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 1-n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2500598" y="8074860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B0440FC-C63B-C6A8-4E28-8C7B580C8FAE}"/>
              </a:ext>
            </a:extLst>
          </p:cNvPr>
          <p:cNvGrpSpPr/>
          <p:nvPr/>
        </p:nvGrpSpPr>
        <p:grpSpPr>
          <a:xfrm>
            <a:off x="1019015" y="8539011"/>
            <a:ext cx="4746082" cy="333608"/>
            <a:chOff x="2488048" y="8568368"/>
            <a:chExt cx="4746082" cy="333608"/>
          </a:xfrm>
        </p:grpSpPr>
        <p:sp>
          <p:nvSpPr>
            <p:cNvPr id="61" name="Text 59"/>
            <p:cNvSpPr/>
            <p:nvPr/>
          </p:nvSpPr>
          <p:spPr>
            <a:xfrm>
              <a:off x="2959070" y="8577784"/>
              <a:ext cx="4275060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topics → lessons:</a:t>
              </a:r>
              <a:r>
                <a:rPr lang="en-US" sz="2600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 1-n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Shape 56">
              <a:extLst>
                <a:ext uri="{FF2B5EF4-FFF2-40B4-BE49-F238E27FC236}">
                  <a16:creationId xmlns:a16="http://schemas.microsoft.com/office/drawing/2014/main" id="{0F7C5463-F8DB-29C4-8B63-6F6593A9C91C}"/>
                </a:ext>
              </a:extLst>
            </p:cNvPr>
            <p:cNvSpPr/>
            <p:nvPr/>
          </p:nvSpPr>
          <p:spPr>
            <a:xfrm>
              <a:off x="2488048" y="8568368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  <p:txBody>
            <a:bodyPr/>
            <a:lstStyle/>
            <a:p>
              <a:endParaRPr lang="vi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C7F3D3B-152B-819F-8993-10632C4C8675}"/>
              </a:ext>
            </a:extLst>
          </p:cNvPr>
          <p:cNvGrpSpPr/>
          <p:nvPr/>
        </p:nvGrpSpPr>
        <p:grpSpPr>
          <a:xfrm>
            <a:off x="1019015" y="9070512"/>
            <a:ext cx="4730842" cy="333608"/>
            <a:chOff x="2488048" y="9099869"/>
            <a:chExt cx="4730842" cy="333608"/>
          </a:xfrm>
        </p:grpSpPr>
        <p:sp>
          <p:nvSpPr>
            <p:cNvPr id="89" name="Text 59">
              <a:extLst>
                <a:ext uri="{FF2B5EF4-FFF2-40B4-BE49-F238E27FC236}">
                  <a16:creationId xmlns:a16="http://schemas.microsoft.com/office/drawing/2014/main" id="{3AB60D61-68F9-8393-7BCF-D9DC63ECE68D}"/>
                </a:ext>
              </a:extLst>
            </p:cNvPr>
            <p:cNvSpPr/>
            <p:nvPr/>
          </p:nvSpPr>
          <p:spPr>
            <a:xfrm>
              <a:off x="2943830" y="9100679"/>
              <a:ext cx="4275060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lessons → items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Shape 56">
              <a:extLst>
                <a:ext uri="{FF2B5EF4-FFF2-40B4-BE49-F238E27FC236}">
                  <a16:creationId xmlns:a16="http://schemas.microsoft.com/office/drawing/2014/main" id="{FD0E93BE-7E61-07C5-3573-88AB1EEF08CF}"/>
                </a:ext>
              </a:extLst>
            </p:cNvPr>
            <p:cNvSpPr/>
            <p:nvPr/>
          </p:nvSpPr>
          <p:spPr>
            <a:xfrm>
              <a:off x="2488048" y="9099869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C81FDBB-1FE4-8B1E-4D2A-CD4412CA6A45}"/>
              </a:ext>
            </a:extLst>
          </p:cNvPr>
          <p:cNvGrpSpPr/>
          <p:nvPr/>
        </p:nvGrpSpPr>
        <p:grpSpPr>
          <a:xfrm>
            <a:off x="1028792" y="9600535"/>
            <a:ext cx="5459967" cy="333608"/>
            <a:chOff x="2497825" y="9629892"/>
            <a:chExt cx="5459967" cy="333608"/>
          </a:xfrm>
        </p:grpSpPr>
        <p:sp>
          <p:nvSpPr>
            <p:cNvPr id="65" name="Text 63"/>
            <p:cNvSpPr/>
            <p:nvPr/>
          </p:nvSpPr>
          <p:spPr>
            <a:xfrm>
              <a:off x="2943830" y="9642450"/>
              <a:ext cx="5013962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items → subitems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Shape 56">
              <a:extLst>
                <a:ext uri="{FF2B5EF4-FFF2-40B4-BE49-F238E27FC236}">
                  <a16:creationId xmlns:a16="http://schemas.microsoft.com/office/drawing/2014/main" id="{A39E5995-5D73-7307-7851-CE0D2A960068}"/>
                </a:ext>
              </a:extLst>
            </p:cNvPr>
            <p:cNvSpPr/>
            <p:nvPr/>
          </p:nvSpPr>
          <p:spPr>
            <a:xfrm>
              <a:off x="2497825" y="9629892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  <p:txBody>
            <a:bodyPr/>
            <a:lstStyle/>
            <a:p>
              <a:endParaRPr lang="vi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4D2402A-88C4-7ED6-9BBD-6D55025860BB}"/>
              </a:ext>
            </a:extLst>
          </p:cNvPr>
          <p:cNvGrpSpPr/>
          <p:nvPr/>
        </p:nvGrpSpPr>
        <p:grpSpPr>
          <a:xfrm>
            <a:off x="5867958" y="8043883"/>
            <a:ext cx="5931285" cy="333608"/>
            <a:chOff x="7500134" y="8139039"/>
            <a:chExt cx="5931285" cy="333608"/>
          </a:xfrm>
        </p:grpSpPr>
        <p:sp>
          <p:nvSpPr>
            <p:cNvPr id="91" name="Text 57">
              <a:extLst>
                <a:ext uri="{FF2B5EF4-FFF2-40B4-BE49-F238E27FC236}">
                  <a16:creationId xmlns:a16="http://schemas.microsoft.com/office/drawing/2014/main" id="{5C9CDD45-25C2-E8BE-7FE2-8632FDCE9D3B}"/>
                </a:ext>
              </a:extLst>
            </p:cNvPr>
            <p:cNvSpPr/>
            <p:nvPr/>
          </p:nvSpPr>
          <p:spPr>
            <a:xfrm>
              <a:off x="7957792" y="8144646"/>
              <a:ext cx="5473627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subitems → questions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Shape 56">
              <a:extLst>
                <a:ext uri="{FF2B5EF4-FFF2-40B4-BE49-F238E27FC236}">
                  <a16:creationId xmlns:a16="http://schemas.microsoft.com/office/drawing/2014/main" id="{1C69B08E-E2D0-85D4-38B4-42626A503128}"/>
                </a:ext>
              </a:extLst>
            </p:cNvPr>
            <p:cNvSpPr/>
            <p:nvPr/>
          </p:nvSpPr>
          <p:spPr>
            <a:xfrm>
              <a:off x="7500134" y="8139039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7CF8B9B-E920-5C48-FDF6-69F708FEAA8B}"/>
              </a:ext>
            </a:extLst>
          </p:cNvPr>
          <p:cNvGrpSpPr/>
          <p:nvPr/>
        </p:nvGrpSpPr>
        <p:grpSpPr>
          <a:xfrm>
            <a:off x="5867958" y="8543201"/>
            <a:ext cx="5493677" cy="338306"/>
            <a:chOff x="7500134" y="8638357"/>
            <a:chExt cx="5493677" cy="338306"/>
          </a:xfrm>
        </p:grpSpPr>
        <p:sp>
          <p:nvSpPr>
            <p:cNvPr id="92" name="Text 59">
              <a:extLst>
                <a:ext uri="{FF2B5EF4-FFF2-40B4-BE49-F238E27FC236}">
                  <a16:creationId xmlns:a16="http://schemas.microsoft.com/office/drawing/2014/main" id="{F4772E08-3079-66E7-B517-B05A39306742}"/>
                </a:ext>
              </a:extLst>
            </p:cNvPr>
            <p:cNvSpPr/>
            <p:nvPr/>
          </p:nvSpPr>
          <p:spPr>
            <a:xfrm>
              <a:off x="7942529" y="8638357"/>
              <a:ext cx="5051282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questions → options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Shape 56">
              <a:extLst>
                <a:ext uri="{FF2B5EF4-FFF2-40B4-BE49-F238E27FC236}">
                  <a16:creationId xmlns:a16="http://schemas.microsoft.com/office/drawing/2014/main" id="{7EFCCC84-EBC2-0068-1576-082753DE593A}"/>
                </a:ext>
              </a:extLst>
            </p:cNvPr>
            <p:cNvSpPr/>
            <p:nvPr/>
          </p:nvSpPr>
          <p:spPr>
            <a:xfrm>
              <a:off x="7500134" y="8643055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  <p:txBody>
            <a:bodyPr/>
            <a:lstStyle/>
            <a:p>
              <a:endParaRPr lang="vi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297ABA3-DFD0-C24B-E8FF-3B5B445D8E00}"/>
              </a:ext>
            </a:extLst>
          </p:cNvPr>
          <p:cNvGrpSpPr/>
          <p:nvPr/>
        </p:nvGrpSpPr>
        <p:grpSpPr>
          <a:xfrm>
            <a:off x="5867958" y="9042914"/>
            <a:ext cx="7021426" cy="333608"/>
            <a:chOff x="7500134" y="9174507"/>
            <a:chExt cx="7021426" cy="333608"/>
          </a:xfrm>
        </p:grpSpPr>
        <p:sp>
          <p:nvSpPr>
            <p:cNvPr id="100" name="Text 57">
              <a:extLst>
                <a:ext uri="{FF2B5EF4-FFF2-40B4-BE49-F238E27FC236}">
                  <a16:creationId xmlns:a16="http://schemas.microsoft.com/office/drawing/2014/main" id="{28FB42EA-0656-5BB0-B81E-37CFBED516BE}"/>
                </a:ext>
              </a:extLst>
            </p:cNvPr>
            <p:cNvSpPr/>
            <p:nvPr/>
          </p:nvSpPr>
          <p:spPr>
            <a:xfrm>
              <a:off x="7957792" y="9180128"/>
              <a:ext cx="6563768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fr-FR" sz="2600" b="1" dirty="0" err="1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question_types</a:t>
              </a:r>
              <a:r>
                <a:rPr lang="fr-FR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 → questions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Shape 56">
              <a:extLst>
                <a:ext uri="{FF2B5EF4-FFF2-40B4-BE49-F238E27FC236}">
                  <a16:creationId xmlns:a16="http://schemas.microsoft.com/office/drawing/2014/main" id="{E0945E9E-5BA0-8A89-4638-52614CDD2060}"/>
                </a:ext>
              </a:extLst>
            </p:cNvPr>
            <p:cNvSpPr/>
            <p:nvPr/>
          </p:nvSpPr>
          <p:spPr>
            <a:xfrm>
              <a:off x="7500134" y="9174507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8E647E8-C437-CD1E-5384-71A5E8BAEB46}"/>
              </a:ext>
            </a:extLst>
          </p:cNvPr>
          <p:cNvGrpSpPr/>
          <p:nvPr/>
        </p:nvGrpSpPr>
        <p:grpSpPr>
          <a:xfrm>
            <a:off x="5867958" y="8016902"/>
            <a:ext cx="11459949" cy="1864553"/>
            <a:chOff x="7500134" y="8173501"/>
            <a:chExt cx="11459949" cy="1864553"/>
          </a:xfrm>
        </p:grpSpPr>
        <p:sp>
          <p:nvSpPr>
            <p:cNvPr id="101" name="Text 59">
              <a:extLst>
                <a:ext uri="{FF2B5EF4-FFF2-40B4-BE49-F238E27FC236}">
                  <a16:creationId xmlns:a16="http://schemas.microsoft.com/office/drawing/2014/main" id="{F4BFC274-2750-CC9D-4E09-371C7EDB8B94}"/>
                </a:ext>
              </a:extLst>
            </p:cNvPr>
            <p:cNvSpPr/>
            <p:nvPr/>
          </p:nvSpPr>
          <p:spPr>
            <a:xfrm>
              <a:off x="13809064" y="8173501"/>
              <a:ext cx="5151019" cy="3056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pt-BR" sz="2600" b="1" dirty="0">
                  <a:solidFill>
                    <a:srgbClr val="F7FAFC"/>
                  </a:solidFill>
                  <a:latin typeface="Arial" panose="020B0604020202020204" pitchFamily="34" charset="0"/>
                  <a:ea typeface="MiSans" pitchFamily="34" charset="-122"/>
                  <a:cs typeface="Arial" panose="020B0604020202020204" pitchFamily="34" charset="0"/>
                </a:rPr>
                <a:t>users → quiz_results : 1–n</a:t>
              </a: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Shape 56">
              <a:extLst>
                <a:ext uri="{FF2B5EF4-FFF2-40B4-BE49-F238E27FC236}">
                  <a16:creationId xmlns:a16="http://schemas.microsoft.com/office/drawing/2014/main" id="{87D987DE-D598-1A23-D083-5716F54BDE4F}"/>
                </a:ext>
              </a:extLst>
            </p:cNvPr>
            <p:cNvSpPr/>
            <p:nvPr/>
          </p:nvSpPr>
          <p:spPr>
            <a:xfrm>
              <a:off x="7500134" y="9704446"/>
              <a:ext cx="364954" cy="333608"/>
            </a:xfrm>
            <a:custGeom>
              <a:avLst/>
              <a:gdLst/>
              <a:ahLst/>
              <a:cxnLst/>
              <a:rect l="l" t="t" r="r" b="b"/>
              <a:pathLst>
                <a:path w="181125" h="181125">
                  <a:moveTo>
                    <a:pt x="90563" y="181125"/>
                  </a:moveTo>
                  <a:cubicBezTo>
                    <a:pt x="140546" y="181125"/>
                    <a:pt x="181125" y="140546"/>
                    <a:pt x="181125" y="90563"/>
                  </a:cubicBezTo>
                  <a:cubicBezTo>
                    <a:pt x="181125" y="40580"/>
                    <a:pt x="140546" y="0"/>
                    <a:pt x="90563" y="0"/>
                  </a:cubicBezTo>
                  <a:cubicBezTo>
                    <a:pt x="40580" y="0"/>
                    <a:pt x="0" y="40580"/>
                    <a:pt x="0" y="90563"/>
                  </a:cubicBezTo>
                  <a:cubicBezTo>
                    <a:pt x="0" y="140546"/>
                    <a:pt x="40580" y="181125"/>
                    <a:pt x="90563" y="181125"/>
                  </a:cubicBezTo>
                  <a:close/>
                  <a:moveTo>
                    <a:pt x="120420" y="75245"/>
                  </a:moveTo>
                  <a:lnTo>
                    <a:pt x="92119" y="120526"/>
                  </a:lnTo>
                  <a:cubicBezTo>
                    <a:pt x="90633" y="122896"/>
                    <a:pt x="88086" y="124382"/>
                    <a:pt x="85292" y="124524"/>
                  </a:cubicBezTo>
                  <a:cubicBezTo>
                    <a:pt x="82497" y="124665"/>
                    <a:pt x="79808" y="123392"/>
                    <a:pt x="78146" y="121128"/>
                  </a:cubicBezTo>
                  <a:lnTo>
                    <a:pt x="61165" y="98487"/>
                  </a:lnTo>
                  <a:cubicBezTo>
                    <a:pt x="58335" y="94737"/>
                    <a:pt x="59113" y="89431"/>
                    <a:pt x="62863" y="86601"/>
                  </a:cubicBezTo>
                  <a:cubicBezTo>
                    <a:pt x="66613" y="83770"/>
                    <a:pt x="71919" y="84549"/>
                    <a:pt x="74750" y="88299"/>
                  </a:cubicBezTo>
                  <a:lnTo>
                    <a:pt x="84301" y="101034"/>
                  </a:lnTo>
                  <a:lnTo>
                    <a:pt x="106022" y="66259"/>
                  </a:lnTo>
                  <a:cubicBezTo>
                    <a:pt x="108498" y="62297"/>
                    <a:pt x="113734" y="61059"/>
                    <a:pt x="117731" y="63571"/>
                  </a:cubicBezTo>
                  <a:cubicBezTo>
                    <a:pt x="121729" y="66082"/>
                    <a:pt x="122932" y="71283"/>
                    <a:pt x="120420" y="75280"/>
                  </a:cubicBezTo>
                  <a:close/>
                </a:path>
              </a:pathLst>
            </a:custGeom>
            <a:solidFill>
              <a:srgbClr val="BC945C"/>
            </a:solidFill>
            <a:ln/>
          </p:spPr>
          <p:txBody>
            <a:bodyPr/>
            <a:lstStyle/>
            <a:p>
              <a:endParaRPr lang="vi-V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0" name="Shape 56">
            <a:extLst>
              <a:ext uri="{FF2B5EF4-FFF2-40B4-BE49-F238E27FC236}">
                <a16:creationId xmlns:a16="http://schemas.microsoft.com/office/drawing/2014/main" id="{80B5CA51-8A22-E1E5-C1C3-1B71DFCE518C}"/>
              </a:ext>
            </a:extLst>
          </p:cNvPr>
          <p:cNvSpPr/>
          <p:nvPr/>
        </p:nvSpPr>
        <p:spPr>
          <a:xfrm>
            <a:off x="11690136" y="8096515"/>
            <a:ext cx="364954" cy="333608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90563" y="181125"/>
                </a:moveTo>
                <a:cubicBezTo>
                  <a:pt x="140546" y="181125"/>
                  <a:pt x="181125" y="140546"/>
                  <a:pt x="181125" y="90563"/>
                </a:cubicBezTo>
                <a:cubicBezTo>
                  <a:pt x="181125" y="40580"/>
                  <a:pt x="140546" y="0"/>
                  <a:pt x="90563" y="0"/>
                </a:cubicBezTo>
                <a:cubicBezTo>
                  <a:pt x="40580" y="0"/>
                  <a:pt x="0" y="40580"/>
                  <a:pt x="0" y="90563"/>
                </a:cubicBezTo>
                <a:cubicBezTo>
                  <a:pt x="0" y="140546"/>
                  <a:pt x="40580" y="181125"/>
                  <a:pt x="90563" y="181125"/>
                </a:cubicBezTo>
                <a:close/>
                <a:moveTo>
                  <a:pt x="120420" y="75245"/>
                </a:moveTo>
                <a:lnTo>
                  <a:pt x="92119" y="120526"/>
                </a:lnTo>
                <a:cubicBezTo>
                  <a:pt x="90633" y="122896"/>
                  <a:pt x="88086" y="124382"/>
                  <a:pt x="85292" y="124524"/>
                </a:cubicBezTo>
                <a:cubicBezTo>
                  <a:pt x="82497" y="124665"/>
                  <a:pt x="79808" y="123392"/>
                  <a:pt x="78146" y="121128"/>
                </a:cubicBezTo>
                <a:lnTo>
                  <a:pt x="61165" y="98487"/>
                </a:lnTo>
                <a:cubicBezTo>
                  <a:pt x="58335" y="94737"/>
                  <a:pt x="59113" y="89431"/>
                  <a:pt x="62863" y="86601"/>
                </a:cubicBezTo>
                <a:cubicBezTo>
                  <a:pt x="66613" y="83770"/>
                  <a:pt x="71919" y="84549"/>
                  <a:pt x="74750" y="88299"/>
                </a:cubicBezTo>
                <a:lnTo>
                  <a:pt x="84301" y="101034"/>
                </a:lnTo>
                <a:lnTo>
                  <a:pt x="106022" y="66259"/>
                </a:lnTo>
                <a:cubicBezTo>
                  <a:pt x="108498" y="62297"/>
                  <a:pt x="113734" y="61059"/>
                  <a:pt x="117731" y="63571"/>
                </a:cubicBezTo>
                <a:cubicBezTo>
                  <a:pt x="121729" y="66082"/>
                  <a:pt x="122932" y="71283"/>
                  <a:pt x="120420" y="75280"/>
                </a:cubicBezTo>
                <a:close/>
              </a:path>
            </a:pathLst>
          </a:custGeom>
          <a:solidFill>
            <a:srgbClr val="BC945C"/>
          </a:solidFill>
          <a:ln/>
        </p:spPr>
      </p:sp>
      <p:sp>
        <p:nvSpPr>
          <p:cNvPr id="93" name="Shape 56">
            <a:extLst>
              <a:ext uri="{FF2B5EF4-FFF2-40B4-BE49-F238E27FC236}">
                <a16:creationId xmlns:a16="http://schemas.microsoft.com/office/drawing/2014/main" id="{2B2A9505-7229-1370-9178-CA2350DD7C67}"/>
              </a:ext>
            </a:extLst>
          </p:cNvPr>
          <p:cNvSpPr/>
          <p:nvPr/>
        </p:nvSpPr>
        <p:spPr>
          <a:xfrm>
            <a:off x="11690136" y="8520468"/>
            <a:ext cx="364954" cy="333608"/>
          </a:xfrm>
          <a:custGeom>
            <a:avLst/>
            <a:gdLst/>
            <a:ahLst/>
            <a:cxnLst/>
            <a:rect l="l" t="t" r="r" b="b"/>
            <a:pathLst>
              <a:path w="181125" h="181125">
                <a:moveTo>
                  <a:pt x="90563" y="181125"/>
                </a:moveTo>
                <a:cubicBezTo>
                  <a:pt x="140546" y="181125"/>
                  <a:pt x="181125" y="140546"/>
                  <a:pt x="181125" y="90563"/>
                </a:cubicBezTo>
                <a:cubicBezTo>
                  <a:pt x="181125" y="40580"/>
                  <a:pt x="140546" y="0"/>
                  <a:pt x="90563" y="0"/>
                </a:cubicBezTo>
                <a:cubicBezTo>
                  <a:pt x="40580" y="0"/>
                  <a:pt x="0" y="40580"/>
                  <a:pt x="0" y="90563"/>
                </a:cubicBezTo>
                <a:cubicBezTo>
                  <a:pt x="0" y="140546"/>
                  <a:pt x="40580" y="181125"/>
                  <a:pt x="90563" y="181125"/>
                </a:cubicBezTo>
                <a:close/>
                <a:moveTo>
                  <a:pt x="120420" y="75245"/>
                </a:moveTo>
                <a:lnTo>
                  <a:pt x="92119" y="120526"/>
                </a:lnTo>
                <a:cubicBezTo>
                  <a:pt x="90633" y="122896"/>
                  <a:pt x="88086" y="124382"/>
                  <a:pt x="85292" y="124524"/>
                </a:cubicBezTo>
                <a:cubicBezTo>
                  <a:pt x="82497" y="124665"/>
                  <a:pt x="79808" y="123392"/>
                  <a:pt x="78146" y="121128"/>
                </a:cubicBezTo>
                <a:lnTo>
                  <a:pt x="61165" y="98487"/>
                </a:lnTo>
                <a:cubicBezTo>
                  <a:pt x="58335" y="94737"/>
                  <a:pt x="59113" y="89431"/>
                  <a:pt x="62863" y="86601"/>
                </a:cubicBezTo>
                <a:cubicBezTo>
                  <a:pt x="66613" y="83770"/>
                  <a:pt x="71919" y="84549"/>
                  <a:pt x="74750" y="88299"/>
                </a:cubicBezTo>
                <a:lnTo>
                  <a:pt x="84301" y="101034"/>
                </a:lnTo>
                <a:lnTo>
                  <a:pt x="106022" y="66259"/>
                </a:lnTo>
                <a:cubicBezTo>
                  <a:pt x="108498" y="62297"/>
                  <a:pt x="113734" y="61059"/>
                  <a:pt x="117731" y="63571"/>
                </a:cubicBezTo>
                <a:cubicBezTo>
                  <a:pt x="121729" y="66082"/>
                  <a:pt x="122932" y="71283"/>
                  <a:pt x="120420" y="75280"/>
                </a:cubicBezTo>
                <a:close/>
              </a:path>
            </a:pathLst>
          </a:custGeom>
          <a:solidFill>
            <a:srgbClr val="BC945C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05699" y="1480599"/>
            <a:ext cx="6618859" cy="85998"/>
            <a:chOff x="0" y="0"/>
            <a:chExt cx="1743239" cy="22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43239" cy="22650"/>
            </a:xfrm>
            <a:custGeom>
              <a:avLst/>
              <a:gdLst/>
              <a:ahLst/>
              <a:cxnLst/>
              <a:rect l="l" t="t" r="r" b="b"/>
              <a:pathLst>
                <a:path w="1743239" h="22650">
                  <a:moveTo>
                    <a:pt x="0" y="0"/>
                  </a:moveTo>
                  <a:lnTo>
                    <a:pt x="1743239" y="0"/>
                  </a:lnTo>
                  <a:lnTo>
                    <a:pt x="1743239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43239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5699" y="489364"/>
            <a:ext cx="6603579" cy="9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KIẾN TRÚC 3 TẦNG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1115" y="3176279"/>
            <a:ext cx="10015646" cy="7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giao diện: hiển thị &amp; tương tác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81115" y="5509765"/>
            <a:ext cx="8532559" cy="7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xử lý: logic nghiệp vụ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81115" y="7838945"/>
            <a:ext cx="9265579" cy="7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dữ liệu: lưu trữ &amp; truy vấn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2609713"/>
            <a:ext cx="6652415" cy="6780090"/>
            <a:chOff x="0" y="0"/>
            <a:chExt cx="8869887" cy="9040121"/>
          </a:xfrm>
        </p:grpSpPr>
        <p:sp>
          <p:nvSpPr>
            <p:cNvPr id="11" name="Freeform 11"/>
            <p:cNvSpPr/>
            <p:nvPr/>
          </p:nvSpPr>
          <p:spPr>
            <a:xfrm rot="5400000">
              <a:off x="4802664" y="5478377"/>
              <a:ext cx="1746163" cy="4225401"/>
            </a:xfrm>
            <a:custGeom>
              <a:avLst/>
              <a:gdLst/>
              <a:ahLst/>
              <a:cxnLst/>
              <a:rect l="l" t="t" r="r" b="b"/>
              <a:pathLst>
                <a:path w="1746163" h="4225401">
                  <a:moveTo>
                    <a:pt x="0" y="0"/>
                  </a:moveTo>
                  <a:lnTo>
                    <a:pt x="1746163" y="0"/>
                  </a:lnTo>
                  <a:lnTo>
                    <a:pt x="1746163" y="4225401"/>
                  </a:lnTo>
                  <a:lnTo>
                    <a:pt x="0" y="4225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066" r="-12066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5400000">
              <a:off x="4438714" y="2320030"/>
              <a:ext cx="2069829" cy="4150869"/>
            </a:xfrm>
            <a:custGeom>
              <a:avLst/>
              <a:gdLst/>
              <a:ahLst/>
              <a:cxnLst/>
              <a:rect l="l" t="t" r="r" b="b"/>
              <a:pathLst>
                <a:path w="2069829" h="4150869">
                  <a:moveTo>
                    <a:pt x="0" y="0"/>
                  </a:moveTo>
                  <a:lnTo>
                    <a:pt x="2069829" y="0"/>
                  </a:lnTo>
                  <a:lnTo>
                    <a:pt x="2069829" y="4150869"/>
                  </a:lnTo>
                  <a:lnTo>
                    <a:pt x="0" y="4150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822" r="-19822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338439" y="496400"/>
              <a:ext cx="4772665" cy="1745792"/>
            </a:xfrm>
            <a:custGeom>
              <a:avLst/>
              <a:gdLst/>
              <a:ahLst/>
              <a:cxnLst/>
              <a:rect l="l" t="t" r="r" b="b"/>
              <a:pathLst>
                <a:path w="4772665" h="1745792">
                  <a:moveTo>
                    <a:pt x="0" y="0"/>
                  </a:moveTo>
                  <a:lnTo>
                    <a:pt x="4772666" y="0"/>
                  </a:lnTo>
                  <a:lnTo>
                    <a:pt x="4772666" y="1745792"/>
                  </a:lnTo>
                  <a:lnTo>
                    <a:pt x="0" y="1745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4185" b="-24146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8869887" cy="9040121"/>
            </a:xfrm>
            <a:custGeom>
              <a:avLst/>
              <a:gdLst/>
              <a:ahLst/>
              <a:cxnLst/>
              <a:rect l="l" t="t" r="r" b="b"/>
              <a:pathLst>
                <a:path w="8869887" h="9040121">
                  <a:moveTo>
                    <a:pt x="0" y="0"/>
                  </a:moveTo>
                  <a:lnTo>
                    <a:pt x="8869887" y="0"/>
                  </a:lnTo>
                  <a:lnTo>
                    <a:pt x="8869887" y="9040121"/>
                  </a:lnTo>
                  <a:lnTo>
                    <a:pt x="0" y="9040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258" t="-24048" r="-86814" b="-1589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38439" y="921150"/>
              <a:ext cx="5008916" cy="810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94"/>
                </a:lnSpc>
              </a:pPr>
              <a:r>
                <a:rPr lang="en-US" sz="3567" b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Tầng giao diện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98194" y="4031948"/>
              <a:ext cx="5008916" cy="810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94"/>
                </a:lnSpc>
              </a:pPr>
              <a:r>
                <a:rPr lang="en-US" sz="3567" b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Tầng xử lý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38439" y="7142931"/>
              <a:ext cx="5008916" cy="810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94"/>
                </a:lnSpc>
              </a:pPr>
              <a:r>
                <a:rPr lang="en-US" sz="3567" b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Tầng dữ liệu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05699" y="525083"/>
            <a:ext cx="16097095" cy="1041515"/>
            <a:chOff x="0" y="-142875"/>
            <a:chExt cx="21462793" cy="138868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131147"/>
              <a:ext cx="18861081" cy="114664"/>
              <a:chOff x="0" y="0"/>
              <a:chExt cx="3725646" cy="226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72564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3725645" h="22650">
                    <a:moveTo>
                      <a:pt x="0" y="0"/>
                    </a:moveTo>
                    <a:lnTo>
                      <a:pt x="3725645" y="0"/>
                    </a:lnTo>
                    <a:lnTo>
                      <a:pt x="3725645" y="22650"/>
                    </a:lnTo>
                    <a:lnTo>
                      <a:pt x="0" y="22650"/>
                    </a:lnTo>
                    <a:close/>
                  </a:path>
                </a:pathLst>
              </a:custGeom>
              <a:solidFill>
                <a:srgbClr val="ACA18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725646" cy="60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7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-142875"/>
              <a:ext cx="21462793" cy="1218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CÔNG NGHỆ VÀ MÔI TRƯỜNG PHÁT TRIỂN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7579" y="3028228"/>
            <a:ext cx="7386311" cy="5317940"/>
          </a:xfrm>
          <a:custGeom>
            <a:avLst/>
            <a:gdLst/>
            <a:ahLst/>
            <a:cxnLst/>
            <a:rect l="l" t="t" r="r" b="b"/>
            <a:pathLst>
              <a:path w="7386311" h="5317940">
                <a:moveTo>
                  <a:pt x="0" y="0"/>
                </a:moveTo>
                <a:lnTo>
                  <a:pt x="7386311" y="0"/>
                </a:lnTo>
                <a:lnTo>
                  <a:pt x="7386311" y="5317940"/>
                </a:lnTo>
                <a:lnTo>
                  <a:pt x="0" y="5317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41" r="-7634" b="-954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81115" y="3067694"/>
            <a:ext cx="10606885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giao diện: Thiết kế giao diện, hiển thị nội dung và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tiếp nhận thao tác người dùng (HTML, CSS, JavaScript)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1115" y="4572000"/>
            <a:ext cx="1048808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xử lý: Xử lý nghiệp vụ, kiểm tra dữ liệu, điều phối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luồng xử lý và giao tiếp với CSDL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1115" y="6001320"/>
            <a:ext cx="1048808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Tầng dữ liệu: Lưu trữ, truy vấn, cập nhật dữ liệu và đảm bảo tính toàn vẹn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81115" y="7430640"/>
            <a:ext cx="1048808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Môi trường phát triển: Sử dụng XAMPP để chạy Apache/PHP và quản lý CSDL MySQL trên máy local.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AutoShape 4"/>
          <p:cNvSpPr/>
          <p:nvPr/>
        </p:nvSpPr>
        <p:spPr>
          <a:xfrm flipH="1" flipV="1">
            <a:off x="9687746" y="2100509"/>
            <a:ext cx="0" cy="71974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386761" y="1108735"/>
            <a:ext cx="11134006" cy="85998"/>
            <a:chOff x="0" y="0"/>
            <a:chExt cx="2932413" cy="226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32413" cy="22650"/>
            </a:xfrm>
            <a:custGeom>
              <a:avLst/>
              <a:gdLst/>
              <a:ahLst/>
              <a:cxnLst/>
              <a:rect l="l" t="t" r="r" b="b"/>
              <a:pathLst>
                <a:path w="2932413" h="22650">
                  <a:moveTo>
                    <a:pt x="0" y="0"/>
                  </a:moveTo>
                  <a:lnTo>
                    <a:pt x="2932413" y="0"/>
                  </a:lnTo>
                  <a:lnTo>
                    <a:pt x="2932413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32413" cy="70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6761" y="117500"/>
            <a:ext cx="12453752" cy="9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KẾT LUẬN VÀ HƯỚNG PHÁT TRIỂN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3237" y="1948109"/>
            <a:ext cx="2738161" cy="64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KẾT</a:t>
            </a:r>
            <a:r>
              <a:rPr lang="en-US" sz="3499" b="1" u="none" strike="noStrike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LUẬN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61567" y="1948109"/>
            <a:ext cx="4737385" cy="64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HƯỚNG</a:t>
            </a:r>
            <a:r>
              <a:rPr lang="en-US" sz="3499" b="1" u="none" strike="noStrike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PHÁT TRIỂN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003" y="2942621"/>
            <a:ext cx="8622654" cy="117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Đề tài đã xây dựng được mô hình/giải pháp theo kiến trúc 3 tầng.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82715" y="3126973"/>
            <a:ext cx="425249" cy="425249"/>
            <a:chOff x="0" y="0"/>
            <a:chExt cx="566999" cy="56699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66999" cy="56699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1360" y="97972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79"/>
                  </a:lnTo>
                  <a:lnTo>
                    <a:pt x="0" y="344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82342" y="4195762"/>
            <a:ext cx="8617315" cy="177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Hệ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thống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đảm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bảo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3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chức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năng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chính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: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bài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–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trắc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nghiệm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–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thống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kê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 algn="l">
              <a:lnSpc>
                <a:spcPts val="4799"/>
              </a:lnSpc>
            </a:pPr>
            <a:endParaRPr lang="en-US" sz="2999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82715" y="4399187"/>
            <a:ext cx="425249" cy="4252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353" tIns="46353" rIns="46353" bIns="46353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366234" y="4472666"/>
            <a:ext cx="258210" cy="258210"/>
          </a:xfrm>
          <a:custGeom>
            <a:avLst/>
            <a:gdLst/>
            <a:ahLst/>
            <a:cxnLst/>
            <a:rect l="l" t="t" r="r" b="b"/>
            <a:pathLst>
              <a:path w="258210" h="258210">
                <a:moveTo>
                  <a:pt x="0" y="0"/>
                </a:moveTo>
                <a:lnTo>
                  <a:pt x="258210" y="0"/>
                </a:lnTo>
                <a:lnTo>
                  <a:pt x="258210" y="258209"/>
                </a:lnTo>
                <a:lnTo>
                  <a:pt x="0" y="258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06078" y="5524524"/>
            <a:ext cx="8781668" cy="1771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Góp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phần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đổi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mới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phương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pháp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dạy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và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lịch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sử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tăng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tính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chủ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động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cho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sinh</a:t>
            </a:r>
            <a:r>
              <a:rPr lang="en-US" sz="2999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.</a:t>
            </a:r>
          </a:p>
          <a:p>
            <a:pPr algn="l">
              <a:lnSpc>
                <a:spcPts val="4799"/>
              </a:lnSpc>
            </a:pPr>
            <a:endParaRPr lang="en-US" sz="2999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282715" y="5742213"/>
            <a:ext cx="425249" cy="42524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353" tIns="46353" rIns="46353" bIns="46353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366234" y="5815692"/>
            <a:ext cx="258210" cy="258210"/>
          </a:xfrm>
          <a:custGeom>
            <a:avLst/>
            <a:gdLst/>
            <a:ahLst/>
            <a:cxnLst/>
            <a:rect l="l" t="t" r="r" b="b"/>
            <a:pathLst>
              <a:path w="258210" h="258210">
                <a:moveTo>
                  <a:pt x="0" y="0"/>
                </a:moveTo>
                <a:lnTo>
                  <a:pt x="258210" y="0"/>
                </a:lnTo>
                <a:lnTo>
                  <a:pt x="258210" y="258210"/>
                </a:lnTo>
                <a:lnTo>
                  <a:pt x="0" y="2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995294" y="3126973"/>
            <a:ext cx="425249" cy="425249"/>
            <a:chOff x="0" y="0"/>
            <a:chExt cx="566999" cy="566999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566999" cy="566999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6353" tIns="46353" rIns="46353" bIns="46353" rtlCol="0" anchor="ctr"/>
              <a:lstStyle/>
              <a:p>
                <a:pPr algn="ctr">
                  <a:lnSpc>
                    <a:spcPts val="2660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11360" y="97972"/>
              <a:ext cx="344280" cy="344280"/>
            </a:xfrm>
            <a:custGeom>
              <a:avLst/>
              <a:gdLst/>
              <a:ahLst/>
              <a:cxnLst/>
              <a:rect l="l" t="t" r="r" b="b"/>
              <a:pathLst>
                <a:path w="344280" h="344280">
                  <a:moveTo>
                    <a:pt x="0" y="0"/>
                  </a:moveTo>
                  <a:lnTo>
                    <a:pt x="344279" y="0"/>
                  </a:lnTo>
                  <a:lnTo>
                    <a:pt x="344279" y="344279"/>
                  </a:lnTo>
                  <a:lnTo>
                    <a:pt x="0" y="344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995294" y="4399187"/>
            <a:ext cx="425249" cy="42524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353" tIns="46353" rIns="46353" bIns="46353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10078813" y="4472666"/>
            <a:ext cx="258210" cy="258210"/>
          </a:xfrm>
          <a:custGeom>
            <a:avLst/>
            <a:gdLst/>
            <a:ahLst/>
            <a:cxnLst/>
            <a:rect l="l" t="t" r="r" b="b"/>
            <a:pathLst>
              <a:path w="258210" h="258210">
                <a:moveTo>
                  <a:pt x="0" y="0"/>
                </a:moveTo>
                <a:lnTo>
                  <a:pt x="258210" y="0"/>
                </a:lnTo>
                <a:lnTo>
                  <a:pt x="258210" y="258209"/>
                </a:lnTo>
                <a:lnTo>
                  <a:pt x="0" y="258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10627348" y="4212454"/>
            <a:ext cx="7660652" cy="1139740"/>
            <a:chOff x="0" y="-123825"/>
            <a:chExt cx="10214203" cy="1519654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123825"/>
              <a:ext cx="7786682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b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Xây dựng ngân hàng câu hỏi: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663577"/>
              <a:ext cx="10214203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Đa dạng chủ đề, nhiều mức độ khó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627348" y="2973577"/>
            <a:ext cx="7660652" cy="1073064"/>
            <a:chOff x="0" y="-123825"/>
            <a:chExt cx="10214203" cy="1430753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123825"/>
              <a:ext cx="6100122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b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Mở rộng thêm môn học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574676"/>
              <a:ext cx="10214203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Địa lí, GDCD, Văn học, 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95294" y="5742213"/>
            <a:ext cx="425249" cy="425249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6353" tIns="46353" rIns="46353" bIns="46353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Freeform 45"/>
          <p:cNvSpPr/>
          <p:nvPr/>
        </p:nvSpPr>
        <p:spPr>
          <a:xfrm>
            <a:off x="10078813" y="5815692"/>
            <a:ext cx="258210" cy="258210"/>
          </a:xfrm>
          <a:custGeom>
            <a:avLst/>
            <a:gdLst/>
            <a:ahLst/>
            <a:cxnLst/>
            <a:rect l="l" t="t" r="r" b="b"/>
            <a:pathLst>
              <a:path w="258210" h="258210">
                <a:moveTo>
                  <a:pt x="0" y="0"/>
                </a:moveTo>
                <a:lnTo>
                  <a:pt x="258210" y="0"/>
                </a:lnTo>
                <a:lnTo>
                  <a:pt x="258210" y="258210"/>
                </a:lnTo>
                <a:lnTo>
                  <a:pt x="0" y="25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10627348" y="5555480"/>
            <a:ext cx="7660652" cy="1139740"/>
            <a:chOff x="0" y="-123825"/>
            <a:chExt cx="10214203" cy="1519654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123825"/>
              <a:ext cx="7786682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b="1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Phát</a:t>
              </a:r>
              <a:r>
                <a:rPr lang="en-US" sz="2999" b="1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999" b="1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triển</a:t>
              </a:r>
              <a:r>
                <a:rPr lang="en-US" sz="2999" b="1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999" b="1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ứng</a:t>
              </a:r>
              <a:r>
                <a:rPr lang="en-US" sz="2999" b="1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</a:t>
              </a:r>
              <a:r>
                <a:rPr lang="en-US" sz="2999" b="1" dirty="0" err="1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dụng</a:t>
              </a:r>
              <a:r>
                <a:rPr lang="en-US" sz="2999" b="1" dirty="0">
                  <a:solidFill>
                    <a:srgbClr val="000000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 mobile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663577"/>
              <a:ext cx="10214203" cy="732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Triển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</a:t>
              </a:r>
              <a:r>
                <a:rPr lang="en-US" sz="2999" dirty="0" err="1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khai</a:t>
              </a:r>
              <a:r>
                <a:rPr lang="en-US" sz="2999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 iOS/Android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976175" y="4011250"/>
            <a:ext cx="14335649" cy="318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RẤT MONG NHẬN ĐƯỢC </a:t>
            </a:r>
          </a:p>
          <a:p>
            <a:pPr algn="ctr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Ý KIẾN GÓP Ý TỪ QUÝ THẦY/CÔ </a:t>
            </a:r>
          </a:p>
          <a:p>
            <a:pPr algn="ctr">
              <a:lnSpc>
                <a:spcPts val="8400"/>
              </a:lnSpc>
            </a:pPr>
            <a:r>
              <a:rPr lang="en-US" sz="5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 HOÀN THIỆN HƠN</a:t>
            </a:r>
          </a:p>
        </p:txBody>
      </p:sp>
      <p:sp>
        <p:nvSpPr>
          <p:cNvPr id="4" name="Freeform 4"/>
          <p:cNvSpPr/>
          <p:nvPr/>
        </p:nvSpPr>
        <p:spPr>
          <a:xfrm>
            <a:off x="7044811" y="7721420"/>
            <a:ext cx="4198378" cy="2359838"/>
          </a:xfrm>
          <a:custGeom>
            <a:avLst/>
            <a:gdLst/>
            <a:ahLst/>
            <a:cxnLst/>
            <a:rect l="l" t="t" r="r" b="b"/>
            <a:pathLst>
              <a:path w="4198378" h="2359838">
                <a:moveTo>
                  <a:pt x="0" y="0"/>
                </a:moveTo>
                <a:lnTo>
                  <a:pt x="4198378" y="0"/>
                </a:lnTo>
                <a:lnTo>
                  <a:pt x="4198378" y="2359838"/>
                </a:lnTo>
                <a:lnTo>
                  <a:pt x="0" y="2359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1129605" y="7958390"/>
            <a:ext cx="6886938" cy="1299910"/>
          </a:xfrm>
          <a:custGeom>
            <a:avLst/>
            <a:gdLst/>
            <a:ahLst/>
            <a:cxnLst/>
            <a:rect l="l" t="t" r="r" b="b"/>
            <a:pathLst>
              <a:path w="6886938" h="1299910">
                <a:moveTo>
                  <a:pt x="6886938" y="0"/>
                </a:moveTo>
                <a:lnTo>
                  <a:pt x="0" y="0"/>
                </a:lnTo>
                <a:lnTo>
                  <a:pt x="0" y="1299910"/>
                </a:lnTo>
                <a:lnTo>
                  <a:pt x="6886938" y="1299910"/>
                </a:lnTo>
                <a:lnTo>
                  <a:pt x="688693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06500" y="1044839"/>
            <a:ext cx="15875000" cy="300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8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XIN CHÂN THÀNH CẢM ƠN QUÝ THẦY, CÔ ĐÃ LẮNG NGHE</a:t>
            </a:r>
          </a:p>
        </p:txBody>
      </p:sp>
      <p:sp>
        <p:nvSpPr>
          <p:cNvPr id="7" name="Freeform 7"/>
          <p:cNvSpPr/>
          <p:nvPr/>
        </p:nvSpPr>
        <p:spPr>
          <a:xfrm>
            <a:off x="240977" y="7958390"/>
            <a:ext cx="6886938" cy="1299910"/>
          </a:xfrm>
          <a:custGeom>
            <a:avLst/>
            <a:gdLst/>
            <a:ahLst/>
            <a:cxnLst/>
            <a:rect l="l" t="t" r="r" b="b"/>
            <a:pathLst>
              <a:path w="6886938" h="1299910">
                <a:moveTo>
                  <a:pt x="0" y="0"/>
                </a:moveTo>
                <a:lnTo>
                  <a:pt x="6886938" y="0"/>
                </a:lnTo>
                <a:lnTo>
                  <a:pt x="6886938" y="1299910"/>
                </a:lnTo>
                <a:lnTo>
                  <a:pt x="0" y="1299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1097</Words>
  <Application>Microsoft Office PowerPoint</Application>
  <PresentationFormat>Custom</PresentationFormat>
  <Paragraphs>162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TRIỂN HỆ THỐNG HỌC &amp; ÔN LUYỆN KIẾN THỨC LỊCH SỬ THPT</dc:title>
  <cp:lastModifiedBy>Tran Thi Thu Lan</cp:lastModifiedBy>
  <cp:revision>4</cp:revision>
  <dcterms:created xsi:type="dcterms:W3CDTF">2006-08-16T00:00:00Z</dcterms:created>
  <dcterms:modified xsi:type="dcterms:W3CDTF">2026-01-04T15:50:45Z</dcterms:modified>
  <dc:identifier>DAG9WGEbXN0</dc:identifier>
</cp:coreProperties>
</file>